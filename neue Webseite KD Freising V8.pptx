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8" r:id="rId2"/>
    <p:sldId id="282" r:id="rId3"/>
    <p:sldId id="278" r:id="rId4"/>
    <p:sldId id="277" r:id="rId5"/>
    <p:sldId id="279" r:id="rId6"/>
    <p:sldId id="266" r:id="rId7"/>
    <p:sldId id="260" r:id="rId8"/>
    <p:sldId id="264" r:id="rId9"/>
    <p:sldId id="262" r:id="rId10"/>
    <p:sldId id="280" r:id="rId11"/>
    <p:sldId id="269" r:id="rId12"/>
    <p:sldId id="271" r:id="rId13"/>
    <p:sldId id="281" r:id="rId14"/>
    <p:sldId id="283" r:id="rId15"/>
    <p:sldId id="273" r:id="rId16"/>
    <p:sldId id="292" r:id="rId17"/>
    <p:sldId id="287" r:id="rId18"/>
    <p:sldId id="286"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760"/>
  </p:normalViewPr>
  <p:slideViewPr>
    <p:cSldViewPr>
      <p:cViewPr varScale="1">
        <p:scale>
          <a:sx n="96" d="100"/>
          <a:sy n="96" d="100"/>
        </p:scale>
        <p:origin x="176" y="45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303ED3-EB87-8F45-A8CB-BF8E41A69A8D}" type="datetimeFigureOut">
              <a:rPr lang="de-DE" smtClean="0"/>
              <a:t>07.05.26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FF4312-E411-6845-A032-65AF8377D0BF}" type="slidenum">
              <a:rPr lang="de-DE" smtClean="0"/>
              <a:t>‹Nr.›</a:t>
            </a:fld>
            <a:endParaRPr lang="de-DE"/>
          </a:p>
        </p:txBody>
      </p:sp>
    </p:spTree>
    <p:extLst>
      <p:ext uri="{BB962C8B-B14F-4D97-AF65-F5344CB8AC3E}">
        <p14:creationId xmlns:p14="http://schemas.microsoft.com/office/powerpoint/2010/main" val="2938749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38FF4312-E411-6845-A032-65AF8377D0BF}" type="slidenum">
              <a:rPr lang="de-DE" smtClean="0"/>
              <a:t>1</a:t>
            </a:fld>
            <a:endParaRPr lang="de-DE"/>
          </a:p>
        </p:txBody>
      </p:sp>
    </p:spTree>
    <p:extLst>
      <p:ext uri="{BB962C8B-B14F-4D97-AF65-F5344CB8AC3E}">
        <p14:creationId xmlns:p14="http://schemas.microsoft.com/office/powerpoint/2010/main" val="1454491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38FF4312-E411-6845-A032-65AF8377D0BF}" type="slidenum">
              <a:rPr lang="de-DE" smtClean="0"/>
              <a:t>2</a:t>
            </a:fld>
            <a:endParaRPr lang="de-DE"/>
          </a:p>
        </p:txBody>
      </p:sp>
    </p:spTree>
    <p:extLst>
      <p:ext uri="{BB962C8B-B14F-4D97-AF65-F5344CB8AC3E}">
        <p14:creationId xmlns:p14="http://schemas.microsoft.com/office/powerpoint/2010/main" val="4023088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38FF4312-E411-6845-A032-65AF8377D0BF}" type="slidenum">
              <a:rPr lang="de-DE" smtClean="0"/>
              <a:t>3</a:t>
            </a:fld>
            <a:endParaRPr lang="de-DE"/>
          </a:p>
        </p:txBody>
      </p:sp>
    </p:spTree>
    <p:extLst>
      <p:ext uri="{BB962C8B-B14F-4D97-AF65-F5344CB8AC3E}">
        <p14:creationId xmlns:p14="http://schemas.microsoft.com/office/powerpoint/2010/main" val="1334718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p:txBody>
      </p:sp>
      <p:sp>
        <p:nvSpPr>
          <p:cNvPr id="4" name="Foliennummernplatzhalter 3"/>
          <p:cNvSpPr>
            <a:spLocks noGrp="1"/>
          </p:cNvSpPr>
          <p:nvPr>
            <p:ph type="sldNum" sz="quarter" idx="5"/>
          </p:nvPr>
        </p:nvSpPr>
        <p:spPr/>
        <p:txBody>
          <a:bodyPr/>
          <a:lstStyle/>
          <a:p>
            <a:fld id="{38FF4312-E411-6845-A032-65AF8377D0BF}" type="slidenum">
              <a:rPr lang="de-DE" smtClean="0"/>
              <a:t>4</a:t>
            </a:fld>
            <a:endParaRPr lang="de-DE"/>
          </a:p>
        </p:txBody>
      </p:sp>
    </p:spTree>
    <p:extLst>
      <p:ext uri="{BB962C8B-B14F-4D97-AF65-F5344CB8AC3E}">
        <p14:creationId xmlns:p14="http://schemas.microsoft.com/office/powerpoint/2010/main" val="1358383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Über</a:t>
            </a:r>
          </a:p>
        </p:txBody>
      </p:sp>
      <p:sp>
        <p:nvSpPr>
          <p:cNvPr id="4" name="Foliennummernplatzhalter 3"/>
          <p:cNvSpPr>
            <a:spLocks noGrp="1"/>
          </p:cNvSpPr>
          <p:nvPr>
            <p:ph type="sldNum" sz="quarter" idx="5"/>
          </p:nvPr>
        </p:nvSpPr>
        <p:spPr/>
        <p:txBody>
          <a:bodyPr/>
          <a:lstStyle/>
          <a:p>
            <a:fld id="{38FF4312-E411-6845-A032-65AF8377D0BF}" type="slidenum">
              <a:rPr lang="de-DE" smtClean="0"/>
              <a:t>5</a:t>
            </a:fld>
            <a:endParaRPr lang="de-DE"/>
          </a:p>
        </p:txBody>
      </p:sp>
    </p:spTree>
    <p:extLst>
      <p:ext uri="{BB962C8B-B14F-4D97-AF65-F5344CB8AC3E}">
        <p14:creationId xmlns:p14="http://schemas.microsoft.com/office/powerpoint/2010/main" val="3036468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38FF4312-E411-6845-A032-65AF8377D0BF}" type="slidenum">
              <a:rPr lang="de-DE" smtClean="0"/>
              <a:t>6</a:t>
            </a:fld>
            <a:endParaRPr lang="de-DE"/>
          </a:p>
        </p:txBody>
      </p:sp>
    </p:spTree>
    <p:extLst>
      <p:ext uri="{BB962C8B-B14F-4D97-AF65-F5344CB8AC3E}">
        <p14:creationId xmlns:p14="http://schemas.microsoft.com/office/powerpoint/2010/main" val="3664086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Übersetzung der offiziellen Webseite von Sensei</a:t>
            </a:r>
          </a:p>
        </p:txBody>
      </p:sp>
      <p:sp>
        <p:nvSpPr>
          <p:cNvPr id="4" name="Foliennummernplatzhalter 3"/>
          <p:cNvSpPr>
            <a:spLocks noGrp="1"/>
          </p:cNvSpPr>
          <p:nvPr>
            <p:ph type="sldNum" sz="quarter" idx="5"/>
          </p:nvPr>
        </p:nvSpPr>
        <p:spPr/>
        <p:txBody>
          <a:bodyPr/>
          <a:lstStyle/>
          <a:p>
            <a:fld id="{38FF4312-E411-6845-A032-65AF8377D0BF}" type="slidenum">
              <a:rPr lang="de-DE" smtClean="0"/>
              <a:t>7</a:t>
            </a:fld>
            <a:endParaRPr lang="de-DE"/>
          </a:p>
        </p:txBody>
      </p:sp>
    </p:spTree>
    <p:extLst>
      <p:ext uri="{BB962C8B-B14F-4D97-AF65-F5344CB8AC3E}">
        <p14:creationId xmlns:p14="http://schemas.microsoft.com/office/powerpoint/2010/main" val="4157881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Eigene Beschreibung</a:t>
            </a:r>
          </a:p>
        </p:txBody>
      </p:sp>
      <p:sp>
        <p:nvSpPr>
          <p:cNvPr id="4" name="Foliennummernplatzhalter 3"/>
          <p:cNvSpPr>
            <a:spLocks noGrp="1"/>
          </p:cNvSpPr>
          <p:nvPr>
            <p:ph type="sldNum" sz="quarter" idx="5"/>
          </p:nvPr>
        </p:nvSpPr>
        <p:spPr/>
        <p:txBody>
          <a:bodyPr/>
          <a:lstStyle/>
          <a:p>
            <a:fld id="{38FF4312-E411-6845-A032-65AF8377D0BF}" type="slidenum">
              <a:rPr lang="de-DE" smtClean="0"/>
              <a:t>8</a:t>
            </a:fld>
            <a:endParaRPr lang="de-DE"/>
          </a:p>
        </p:txBody>
      </p:sp>
    </p:spTree>
    <p:extLst>
      <p:ext uri="{BB962C8B-B14F-4D97-AF65-F5344CB8AC3E}">
        <p14:creationId xmlns:p14="http://schemas.microsoft.com/office/powerpoint/2010/main" val="3258707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Textübernahme von der aktuellen Internetseite </a:t>
            </a:r>
          </a:p>
        </p:txBody>
      </p:sp>
      <p:sp>
        <p:nvSpPr>
          <p:cNvPr id="4" name="Foliennummernplatzhalter 3"/>
          <p:cNvSpPr>
            <a:spLocks noGrp="1"/>
          </p:cNvSpPr>
          <p:nvPr>
            <p:ph type="sldNum" sz="quarter" idx="5"/>
          </p:nvPr>
        </p:nvSpPr>
        <p:spPr/>
        <p:txBody>
          <a:bodyPr/>
          <a:lstStyle/>
          <a:p>
            <a:fld id="{38FF4312-E411-6845-A032-65AF8377D0BF}" type="slidenum">
              <a:rPr lang="de-DE" smtClean="0"/>
              <a:t>9</a:t>
            </a:fld>
            <a:endParaRPr lang="de-DE"/>
          </a:p>
        </p:txBody>
      </p:sp>
    </p:spTree>
    <p:extLst>
      <p:ext uri="{BB962C8B-B14F-4D97-AF65-F5344CB8AC3E}">
        <p14:creationId xmlns:p14="http://schemas.microsoft.com/office/powerpoint/2010/main" val="1348853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Textübernahme von der aktuellen Internetseite </a:t>
            </a:r>
          </a:p>
        </p:txBody>
      </p:sp>
      <p:sp>
        <p:nvSpPr>
          <p:cNvPr id="4" name="Foliennummernplatzhalter 3"/>
          <p:cNvSpPr>
            <a:spLocks noGrp="1"/>
          </p:cNvSpPr>
          <p:nvPr>
            <p:ph type="sldNum" sz="quarter" idx="5"/>
          </p:nvPr>
        </p:nvSpPr>
        <p:spPr/>
        <p:txBody>
          <a:bodyPr/>
          <a:lstStyle/>
          <a:p>
            <a:fld id="{38FF4312-E411-6845-A032-65AF8377D0BF}" type="slidenum">
              <a:rPr lang="de-DE" smtClean="0"/>
              <a:t>10</a:t>
            </a:fld>
            <a:endParaRPr lang="de-DE"/>
          </a:p>
        </p:txBody>
      </p:sp>
    </p:spTree>
    <p:extLst>
      <p:ext uri="{BB962C8B-B14F-4D97-AF65-F5344CB8AC3E}">
        <p14:creationId xmlns:p14="http://schemas.microsoft.com/office/powerpoint/2010/main" val="2778045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Textübernahme von der aktuellen Internetseite </a:t>
            </a:r>
          </a:p>
        </p:txBody>
      </p:sp>
      <p:sp>
        <p:nvSpPr>
          <p:cNvPr id="4" name="Foliennummernplatzhalter 3"/>
          <p:cNvSpPr>
            <a:spLocks noGrp="1"/>
          </p:cNvSpPr>
          <p:nvPr>
            <p:ph type="sldNum" sz="quarter" idx="5"/>
          </p:nvPr>
        </p:nvSpPr>
        <p:spPr/>
        <p:txBody>
          <a:bodyPr/>
          <a:lstStyle/>
          <a:p>
            <a:fld id="{38FF4312-E411-6845-A032-65AF8377D0BF}" type="slidenum">
              <a:rPr lang="de-DE" smtClean="0"/>
              <a:t>11</a:t>
            </a:fld>
            <a:endParaRPr lang="de-DE"/>
          </a:p>
        </p:txBody>
      </p:sp>
    </p:spTree>
    <p:extLst>
      <p:ext uri="{BB962C8B-B14F-4D97-AF65-F5344CB8AC3E}">
        <p14:creationId xmlns:p14="http://schemas.microsoft.com/office/powerpoint/2010/main" val="2877556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Textübernahme von der aktuellen Internetseite mit </a:t>
            </a:r>
            <a:r>
              <a:rPr lang="de-DE" dirty="0" err="1"/>
              <a:t>Anpasssung</a:t>
            </a:r>
            <a:endParaRPr lang="de-DE" dirty="0"/>
          </a:p>
          <a:p>
            <a:endParaRPr lang="de-DE" dirty="0"/>
          </a:p>
        </p:txBody>
      </p:sp>
      <p:sp>
        <p:nvSpPr>
          <p:cNvPr id="4" name="Foliennummernplatzhalter 3"/>
          <p:cNvSpPr>
            <a:spLocks noGrp="1"/>
          </p:cNvSpPr>
          <p:nvPr>
            <p:ph type="sldNum" sz="quarter" idx="5"/>
          </p:nvPr>
        </p:nvSpPr>
        <p:spPr/>
        <p:txBody>
          <a:bodyPr/>
          <a:lstStyle/>
          <a:p>
            <a:fld id="{38FF4312-E411-6845-A032-65AF8377D0BF}" type="slidenum">
              <a:rPr lang="de-DE" smtClean="0"/>
              <a:t>12</a:t>
            </a:fld>
            <a:endParaRPr lang="de-DE"/>
          </a:p>
        </p:txBody>
      </p:sp>
    </p:spTree>
    <p:extLst>
      <p:ext uri="{BB962C8B-B14F-4D97-AF65-F5344CB8AC3E}">
        <p14:creationId xmlns:p14="http://schemas.microsoft.com/office/powerpoint/2010/main" val="35214905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38FF4312-E411-6845-A032-65AF8377D0BF}" type="slidenum">
              <a:rPr lang="de-DE" smtClean="0"/>
              <a:t>13</a:t>
            </a:fld>
            <a:endParaRPr lang="de-DE"/>
          </a:p>
        </p:txBody>
      </p:sp>
    </p:spTree>
    <p:extLst>
      <p:ext uri="{BB962C8B-B14F-4D97-AF65-F5344CB8AC3E}">
        <p14:creationId xmlns:p14="http://schemas.microsoft.com/office/powerpoint/2010/main" val="2022090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38FF4312-E411-6845-A032-65AF8377D0BF}" type="slidenum">
              <a:rPr lang="de-DE" smtClean="0"/>
              <a:t>14</a:t>
            </a:fld>
            <a:endParaRPr lang="de-DE"/>
          </a:p>
        </p:txBody>
      </p:sp>
    </p:spTree>
    <p:extLst>
      <p:ext uri="{BB962C8B-B14F-4D97-AF65-F5344CB8AC3E}">
        <p14:creationId xmlns:p14="http://schemas.microsoft.com/office/powerpoint/2010/main" val="3370464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38FF4312-E411-6845-A032-65AF8377D0BF}" type="slidenum">
              <a:rPr lang="de-DE" smtClean="0"/>
              <a:t>15</a:t>
            </a:fld>
            <a:endParaRPr lang="de-DE"/>
          </a:p>
        </p:txBody>
      </p:sp>
    </p:spTree>
    <p:extLst>
      <p:ext uri="{BB962C8B-B14F-4D97-AF65-F5344CB8AC3E}">
        <p14:creationId xmlns:p14="http://schemas.microsoft.com/office/powerpoint/2010/main" val="32720155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DF35E-1116-7735-8B10-D0659FEEF71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8BB32FE-A94D-4A3C-572A-EC93F31B5A2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D90F65D-5547-D697-8DE7-7373153923AD}"/>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79EF719B-C347-3CF9-772D-D5B1D7BF14A7}"/>
              </a:ext>
            </a:extLst>
          </p:cNvPr>
          <p:cNvSpPr>
            <a:spLocks noGrp="1"/>
          </p:cNvSpPr>
          <p:nvPr>
            <p:ph type="sldNum" sz="quarter" idx="5"/>
          </p:nvPr>
        </p:nvSpPr>
        <p:spPr/>
        <p:txBody>
          <a:bodyPr/>
          <a:lstStyle/>
          <a:p>
            <a:fld id="{38FF4312-E411-6845-A032-65AF8377D0BF}" type="slidenum">
              <a:rPr lang="de-DE" smtClean="0"/>
              <a:t>16</a:t>
            </a:fld>
            <a:endParaRPr lang="de-DE"/>
          </a:p>
        </p:txBody>
      </p:sp>
    </p:spTree>
    <p:extLst>
      <p:ext uri="{BB962C8B-B14F-4D97-AF65-F5344CB8AC3E}">
        <p14:creationId xmlns:p14="http://schemas.microsoft.com/office/powerpoint/2010/main" val="1024937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4E8F3-1A8D-C1FD-C82A-B38B524A649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ECF8963-206B-66B1-08BE-62700A9EB21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71FC188-F6A9-D1D6-F738-3F516D1C9E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p:txBody>
      </p:sp>
      <p:sp>
        <p:nvSpPr>
          <p:cNvPr id="4" name="Foliennummernplatzhalter 3">
            <a:extLst>
              <a:ext uri="{FF2B5EF4-FFF2-40B4-BE49-F238E27FC236}">
                <a16:creationId xmlns:a16="http://schemas.microsoft.com/office/drawing/2014/main" id="{6DDF2F66-2B91-AF3E-C0B8-2C1EF5FE0524}"/>
              </a:ext>
            </a:extLst>
          </p:cNvPr>
          <p:cNvSpPr>
            <a:spLocks noGrp="1"/>
          </p:cNvSpPr>
          <p:nvPr>
            <p:ph type="sldNum" sz="quarter" idx="5"/>
          </p:nvPr>
        </p:nvSpPr>
        <p:spPr/>
        <p:txBody>
          <a:bodyPr/>
          <a:lstStyle/>
          <a:p>
            <a:fld id="{38FF4312-E411-6845-A032-65AF8377D0BF}" type="slidenum">
              <a:rPr lang="de-DE" smtClean="0"/>
              <a:t>17</a:t>
            </a:fld>
            <a:endParaRPr lang="de-DE"/>
          </a:p>
        </p:txBody>
      </p:sp>
    </p:spTree>
    <p:extLst>
      <p:ext uri="{BB962C8B-B14F-4D97-AF65-F5344CB8AC3E}">
        <p14:creationId xmlns:p14="http://schemas.microsoft.com/office/powerpoint/2010/main" val="33901921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81675-304A-7EB1-AE62-D4B2AFE9430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E6E0D4E-61F5-8098-4105-0F479F3C0C8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0D9E9B0-CA45-11F3-C34E-1D6C02BD81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p:txBody>
      </p:sp>
      <p:sp>
        <p:nvSpPr>
          <p:cNvPr id="4" name="Foliennummernplatzhalter 3">
            <a:extLst>
              <a:ext uri="{FF2B5EF4-FFF2-40B4-BE49-F238E27FC236}">
                <a16:creationId xmlns:a16="http://schemas.microsoft.com/office/drawing/2014/main" id="{C9F28995-088E-FC72-CC6F-CE3EF906DED0}"/>
              </a:ext>
            </a:extLst>
          </p:cNvPr>
          <p:cNvSpPr>
            <a:spLocks noGrp="1"/>
          </p:cNvSpPr>
          <p:nvPr>
            <p:ph type="sldNum" sz="quarter" idx="5"/>
          </p:nvPr>
        </p:nvSpPr>
        <p:spPr/>
        <p:txBody>
          <a:bodyPr/>
          <a:lstStyle/>
          <a:p>
            <a:fld id="{38FF4312-E411-6845-A032-65AF8377D0BF}" type="slidenum">
              <a:rPr lang="de-DE" smtClean="0"/>
              <a:t>18</a:t>
            </a:fld>
            <a:endParaRPr lang="de-DE"/>
          </a:p>
        </p:txBody>
      </p:sp>
    </p:spTree>
    <p:extLst>
      <p:ext uri="{BB962C8B-B14F-4D97-AF65-F5344CB8AC3E}">
        <p14:creationId xmlns:p14="http://schemas.microsoft.com/office/powerpoint/2010/main" val="3340655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092092-6906-C216-4494-5EC231AD2776}"/>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DE8A7064-EAE3-11FA-784E-3679C96CC5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6373D76-767C-F9B9-9119-92855D121B2A}"/>
              </a:ext>
            </a:extLst>
          </p:cNvPr>
          <p:cNvSpPr>
            <a:spLocks noGrp="1"/>
          </p:cNvSpPr>
          <p:nvPr>
            <p:ph type="dt" sz="half" idx="10"/>
          </p:nvPr>
        </p:nvSpPr>
        <p:spPr/>
        <p:txBody>
          <a:bodyPr/>
          <a:lstStyle/>
          <a:p>
            <a:fld id="{AD801045-C8AC-8142-BA5C-EFCD800DBE58}" type="datetimeFigureOut">
              <a:rPr lang="de-DE" smtClean="0"/>
              <a:t>07.05.26</a:t>
            </a:fld>
            <a:endParaRPr lang="de-DE"/>
          </a:p>
        </p:txBody>
      </p:sp>
      <p:sp>
        <p:nvSpPr>
          <p:cNvPr id="5" name="Fußzeilenplatzhalter 4">
            <a:extLst>
              <a:ext uri="{FF2B5EF4-FFF2-40B4-BE49-F238E27FC236}">
                <a16:creationId xmlns:a16="http://schemas.microsoft.com/office/drawing/2014/main" id="{6F918657-9CA5-21BE-58A3-E94CEFF3F89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F8DB4AC-E751-90DE-BDDC-6566B45C1722}"/>
              </a:ext>
            </a:extLst>
          </p:cNvPr>
          <p:cNvSpPr>
            <a:spLocks noGrp="1"/>
          </p:cNvSpPr>
          <p:nvPr>
            <p:ph type="sldNum" sz="quarter" idx="12"/>
          </p:nvPr>
        </p:nvSpPr>
        <p:spPr/>
        <p:txBody>
          <a:bodyPr/>
          <a:lstStyle/>
          <a:p>
            <a:fld id="{5A772AEC-E837-2C4D-83B9-7533D26DA7AB}" type="slidenum">
              <a:rPr lang="de-DE" smtClean="0"/>
              <a:t>‹Nr.›</a:t>
            </a:fld>
            <a:endParaRPr lang="de-DE"/>
          </a:p>
        </p:txBody>
      </p:sp>
    </p:spTree>
    <p:extLst>
      <p:ext uri="{BB962C8B-B14F-4D97-AF65-F5344CB8AC3E}">
        <p14:creationId xmlns:p14="http://schemas.microsoft.com/office/powerpoint/2010/main" val="480077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03A1BA-58D5-1351-C69E-4FC5EAAC347B}"/>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9CAD1C1D-C13F-1DD4-81E6-3B5FDF313ED8}"/>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EC70269-7230-82CB-F33C-04C032FAF3B3}"/>
              </a:ext>
            </a:extLst>
          </p:cNvPr>
          <p:cNvSpPr>
            <a:spLocks noGrp="1"/>
          </p:cNvSpPr>
          <p:nvPr>
            <p:ph type="dt" sz="half" idx="10"/>
          </p:nvPr>
        </p:nvSpPr>
        <p:spPr/>
        <p:txBody>
          <a:bodyPr/>
          <a:lstStyle/>
          <a:p>
            <a:fld id="{AD801045-C8AC-8142-BA5C-EFCD800DBE58}" type="datetimeFigureOut">
              <a:rPr lang="de-DE" smtClean="0"/>
              <a:t>07.05.26</a:t>
            </a:fld>
            <a:endParaRPr lang="de-DE"/>
          </a:p>
        </p:txBody>
      </p:sp>
      <p:sp>
        <p:nvSpPr>
          <p:cNvPr id="5" name="Fußzeilenplatzhalter 4">
            <a:extLst>
              <a:ext uri="{FF2B5EF4-FFF2-40B4-BE49-F238E27FC236}">
                <a16:creationId xmlns:a16="http://schemas.microsoft.com/office/drawing/2014/main" id="{F526A3B9-6E03-CCDA-4053-726AE210FE8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098E1C5-B0D2-DC02-AF08-1906F301B1D1}"/>
              </a:ext>
            </a:extLst>
          </p:cNvPr>
          <p:cNvSpPr>
            <a:spLocks noGrp="1"/>
          </p:cNvSpPr>
          <p:nvPr>
            <p:ph type="sldNum" sz="quarter" idx="12"/>
          </p:nvPr>
        </p:nvSpPr>
        <p:spPr/>
        <p:txBody>
          <a:bodyPr/>
          <a:lstStyle/>
          <a:p>
            <a:fld id="{5A772AEC-E837-2C4D-83B9-7533D26DA7AB}" type="slidenum">
              <a:rPr lang="de-DE" smtClean="0"/>
              <a:t>‹Nr.›</a:t>
            </a:fld>
            <a:endParaRPr lang="de-DE"/>
          </a:p>
        </p:txBody>
      </p:sp>
    </p:spTree>
    <p:extLst>
      <p:ext uri="{BB962C8B-B14F-4D97-AF65-F5344CB8AC3E}">
        <p14:creationId xmlns:p14="http://schemas.microsoft.com/office/powerpoint/2010/main" val="3343868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A90239-9D50-F87C-314C-FB979C28B273}"/>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25437332-35A7-8999-1DBA-B53D122DCA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B1EE957-2B2C-C582-64D1-78E28213B000}"/>
              </a:ext>
            </a:extLst>
          </p:cNvPr>
          <p:cNvSpPr>
            <a:spLocks noGrp="1"/>
          </p:cNvSpPr>
          <p:nvPr>
            <p:ph type="dt" sz="half" idx="10"/>
          </p:nvPr>
        </p:nvSpPr>
        <p:spPr/>
        <p:txBody>
          <a:bodyPr/>
          <a:lstStyle/>
          <a:p>
            <a:fld id="{AD801045-C8AC-8142-BA5C-EFCD800DBE58}" type="datetimeFigureOut">
              <a:rPr lang="de-DE" smtClean="0"/>
              <a:t>07.05.26</a:t>
            </a:fld>
            <a:endParaRPr lang="de-DE"/>
          </a:p>
        </p:txBody>
      </p:sp>
      <p:sp>
        <p:nvSpPr>
          <p:cNvPr id="5" name="Fußzeilenplatzhalter 4">
            <a:extLst>
              <a:ext uri="{FF2B5EF4-FFF2-40B4-BE49-F238E27FC236}">
                <a16:creationId xmlns:a16="http://schemas.microsoft.com/office/drawing/2014/main" id="{5CE6C3F4-06A8-2DEC-70EB-63C7170668F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90B25C1-B678-6048-E160-79124AF10FC0}"/>
              </a:ext>
            </a:extLst>
          </p:cNvPr>
          <p:cNvSpPr>
            <a:spLocks noGrp="1"/>
          </p:cNvSpPr>
          <p:nvPr>
            <p:ph type="sldNum" sz="quarter" idx="12"/>
          </p:nvPr>
        </p:nvSpPr>
        <p:spPr/>
        <p:txBody>
          <a:bodyPr/>
          <a:lstStyle/>
          <a:p>
            <a:fld id="{5A772AEC-E837-2C4D-83B9-7533D26DA7AB}" type="slidenum">
              <a:rPr lang="de-DE" smtClean="0"/>
              <a:t>‹Nr.›</a:t>
            </a:fld>
            <a:endParaRPr lang="de-DE"/>
          </a:p>
        </p:txBody>
      </p:sp>
    </p:spTree>
    <p:extLst>
      <p:ext uri="{BB962C8B-B14F-4D97-AF65-F5344CB8AC3E}">
        <p14:creationId xmlns:p14="http://schemas.microsoft.com/office/powerpoint/2010/main" val="2399123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EEAF0C-27C0-EBF7-9CD3-08BE2887C0D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D70739A-8DF6-2405-9962-BFF8CA4208A0}"/>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322E729-76B4-FFFF-D145-46C0D624B04D}"/>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16F3FEFA-1348-E630-C15F-FF2B715CB4CB}"/>
              </a:ext>
            </a:extLst>
          </p:cNvPr>
          <p:cNvSpPr>
            <a:spLocks noGrp="1"/>
          </p:cNvSpPr>
          <p:nvPr>
            <p:ph type="dt" sz="half" idx="10"/>
          </p:nvPr>
        </p:nvSpPr>
        <p:spPr/>
        <p:txBody>
          <a:bodyPr/>
          <a:lstStyle/>
          <a:p>
            <a:fld id="{AD801045-C8AC-8142-BA5C-EFCD800DBE58}" type="datetimeFigureOut">
              <a:rPr lang="de-DE" smtClean="0"/>
              <a:t>07.05.26</a:t>
            </a:fld>
            <a:endParaRPr lang="de-DE"/>
          </a:p>
        </p:txBody>
      </p:sp>
      <p:sp>
        <p:nvSpPr>
          <p:cNvPr id="6" name="Fußzeilenplatzhalter 5">
            <a:extLst>
              <a:ext uri="{FF2B5EF4-FFF2-40B4-BE49-F238E27FC236}">
                <a16:creationId xmlns:a16="http://schemas.microsoft.com/office/drawing/2014/main" id="{FE91CF60-1A2F-31DA-5AC3-EAC09C5D43B5}"/>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C3929DFC-CBC2-FA12-8F84-6AD8C5DB4229}"/>
              </a:ext>
            </a:extLst>
          </p:cNvPr>
          <p:cNvSpPr>
            <a:spLocks noGrp="1"/>
          </p:cNvSpPr>
          <p:nvPr>
            <p:ph type="sldNum" sz="quarter" idx="12"/>
          </p:nvPr>
        </p:nvSpPr>
        <p:spPr/>
        <p:txBody>
          <a:bodyPr/>
          <a:lstStyle/>
          <a:p>
            <a:fld id="{5A772AEC-E837-2C4D-83B9-7533D26DA7AB}" type="slidenum">
              <a:rPr lang="de-DE" smtClean="0"/>
              <a:t>‹Nr.›</a:t>
            </a:fld>
            <a:endParaRPr lang="de-DE"/>
          </a:p>
        </p:txBody>
      </p:sp>
    </p:spTree>
    <p:extLst>
      <p:ext uri="{BB962C8B-B14F-4D97-AF65-F5344CB8AC3E}">
        <p14:creationId xmlns:p14="http://schemas.microsoft.com/office/powerpoint/2010/main" val="3208459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F5C17A-217F-8642-9E30-FE135F5F1735}"/>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A3373A15-4EF9-F14C-84E9-850371994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51F8ECF6-94E4-1F7D-A95D-053AAEA6A097}"/>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8280E14B-2928-4950-C5ED-7B90338D6D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F548DDB1-17D4-62EF-FD9C-3D74752866F5}"/>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FB98F260-882B-61E4-5420-562A5D8F220C}"/>
              </a:ext>
            </a:extLst>
          </p:cNvPr>
          <p:cNvSpPr>
            <a:spLocks noGrp="1"/>
          </p:cNvSpPr>
          <p:nvPr>
            <p:ph type="dt" sz="half" idx="10"/>
          </p:nvPr>
        </p:nvSpPr>
        <p:spPr/>
        <p:txBody>
          <a:bodyPr/>
          <a:lstStyle/>
          <a:p>
            <a:fld id="{AD801045-C8AC-8142-BA5C-EFCD800DBE58}" type="datetimeFigureOut">
              <a:rPr lang="de-DE" smtClean="0"/>
              <a:t>07.05.26</a:t>
            </a:fld>
            <a:endParaRPr lang="de-DE"/>
          </a:p>
        </p:txBody>
      </p:sp>
      <p:sp>
        <p:nvSpPr>
          <p:cNvPr id="8" name="Fußzeilenplatzhalter 7">
            <a:extLst>
              <a:ext uri="{FF2B5EF4-FFF2-40B4-BE49-F238E27FC236}">
                <a16:creationId xmlns:a16="http://schemas.microsoft.com/office/drawing/2014/main" id="{549D4A6F-8580-AB1C-FC40-12B42DCF1B83}"/>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D7850D2E-27CA-BD6C-D6C4-5AC2C1E46D8A}"/>
              </a:ext>
            </a:extLst>
          </p:cNvPr>
          <p:cNvSpPr>
            <a:spLocks noGrp="1"/>
          </p:cNvSpPr>
          <p:nvPr>
            <p:ph type="sldNum" sz="quarter" idx="12"/>
          </p:nvPr>
        </p:nvSpPr>
        <p:spPr/>
        <p:txBody>
          <a:bodyPr/>
          <a:lstStyle/>
          <a:p>
            <a:fld id="{5A772AEC-E837-2C4D-83B9-7533D26DA7AB}" type="slidenum">
              <a:rPr lang="de-DE" smtClean="0"/>
              <a:t>‹Nr.›</a:t>
            </a:fld>
            <a:endParaRPr lang="de-DE"/>
          </a:p>
        </p:txBody>
      </p:sp>
    </p:spTree>
    <p:extLst>
      <p:ext uri="{BB962C8B-B14F-4D97-AF65-F5344CB8AC3E}">
        <p14:creationId xmlns:p14="http://schemas.microsoft.com/office/powerpoint/2010/main" val="202200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AB4AFE-4F1D-EBF5-D10F-04F33E464AAF}"/>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60C8CB3E-7F04-8D2C-857B-9A9B114DA7A3}"/>
              </a:ext>
            </a:extLst>
          </p:cNvPr>
          <p:cNvSpPr>
            <a:spLocks noGrp="1"/>
          </p:cNvSpPr>
          <p:nvPr>
            <p:ph type="dt" sz="half" idx="10"/>
          </p:nvPr>
        </p:nvSpPr>
        <p:spPr/>
        <p:txBody>
          <a:bodyPr/>
          <a:lstStyle/>
          <a:p>
            <a:fld id="{AD801045-C8AC-8142-BA5C-EFCD800DBE58}" type="datetimeFigureOut">
              <a:rPr lang="de-DE" smtClean="0"/>
              <a:t>07.05.26</a:t>
            </a:fld>
            <a:endParaRPr lang="de-DE"/>
          </a:p>
        </p:txBody>
      </p:sp>
      <p:sp>
        <p:nvSpPr>
          <p:cNvPr id="4" name="Fußzeilenplatzhalter 3">
            <a:extLst>
              <a:ext uri="{FF2B5EF4-FFF2-40B4-BE49-F238E27FC236}">
                <a16:creationId xmlns:a16="http://schemas.microsoft.com/office/drawing/2014/main" id="{346235A6-8FFE-35F0-D52A-D95E8B17B896}"/>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71670846-518E-C16E-81DC-AB1C8C961788}"/>
              </a:ext>
            </a:extLst>
          </p:cNvPr>
          <p:cNvSpPr>
            <a:spLocks noGrp="1"/>
          </p:cNvSpPr>
          <p:nvPr>
            <p:ph type="sldNum" sz="quarter" idx="12"/>
          </p:nvPr>
        </p:nvSpPr>
        <p:spPr/>
        <p:txBody>
          <a:bodyPr/>
          <a:lstStyle/>
          <a:p>
            <a:fld id="{5A772AEC-E837-2C4D-83B9-7533D26DA7AB}" type="slidenum">
              <a:rPr lang="de-DE" smtClean="0"/>
              <a:t>‹Nr.›</a:t>
            </a:fld>
            <a:endParaRPr lang="de-DE"/>
          </a:p>
        </p:txBody>
      </p:sp>
    </p:spTree>
    <p:extLst>
      <p:ext uri="{BB962C8B-B14F-4D97-AF65-F5344CB8AC3E}">
        <p14:creationId xmlns:p14="http://schemas.microsoft.com/office/powerpoint/2010/main" val="3099005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0D3517A-DED4-4D99-4668-2636C67D6457}"/>
              </a:ext>
            </a:extLst>
          </p:cNvPr>
          <p:cNvSpPr>
            <a:spLocks noGrp="1"/>
          </p:cNvSpPr>
          <p:nvPr>
            <p:ph type="dt" sz="half" idx="10"/>
          </p:nvPr>
        </p:nvSpPr>
        <p:spPr/>
        <p:txBody>
          <a:bodyPr/>
          <a:lstStyle/>
          <a:p>
            <a:fld id="{AD801045-C8AC-8142-BA5C-EFCD800DBE58}" type="datetimeFigureOut">
              <a:rPr lang="de-DE" smtClean="0"/>
              <a:t>07.05.26</a:t>
            </a:fld>
            <a:endParaRPr lang="de-DE"/>
          </a:p>
        </p:txBody>
      </p:sp>
      <p:sp>
        <p:nvSpPr>
          <p:cNvPr id="3" name="Fußzeilenplatzhalter 2">
            <a:extLst>
              <a:ext uri="{FF2B5EF4-FFF2-40B4-BE49-F238E27FC236}">
                <a16:creationId xmlns:a16="http://schemas.microsoft.com/office/drawing/2014/main" id="{E2777BC6-27B9-4656-46A5-198BE49C541B}"/>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40421FA5-2275-6C79-98AB-B6C90FA7A6BC}"/>
              </a:ext>
            </a:extLst>
          </p:cNvPr>
          <p:cNvSpPr>
            <a:spLocks noGrp="1"/>
          </p:cNvSpPr>
          <p:nvPr>
            <p:ph type="sldNum" sz="quarter" idx="12"/>
          </p:nvPr>
        </p:nvSpPr>
        <p:spPr/>
        <p:txBody>
          <a:bodyPr/>
          <a:lstStyle/>
          <a:p>
            <a:fld id="{5A772AEC-E837-2C4D-83B9-7533D26DA7AB}" type="slidenum">
              <a:rPr lang="de-DE" smtClean="0"/>
              <a:t>‹Nr.›</a:t>
            </a:fld>
            <a:endParaRPr lang="de-DE"/>
          </a:p>
        </p:txBody>
      </p:sp>
    </p:spTree>
    <p:extLst>
      <p:ext uri="{BB962C8B-B14F-4D97-AF65-F5344CB8AC3E}">
        <p14:creationId xmlns:p14="http://schemas.microsoft.com/office/powerpoint/2010/main" val="61349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7A3C72-4B39-AE20-01B9-1892A658CDB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7C726ABC-EE27-08CD-ACA0-1D26F44B4C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B652E69B-B995-C6E3-6811-FD6CDF32D6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430CA8F-AEE4-5486-59D5-D80B89A60469}"/>
              </a:ext>
            </a:extLst>
          </p:cNvPr>
          <p:cNvSpPr>
            <a:spLocks noGrp="1"/>
          </p:cNvSpPr>
          <p:nvPr>
            <p:ph type="dt" sz="half" idx="10"/>
          </p:nvPr>
        </p:nvSpPr>
        <p:spPr/>
        <p:txBody>
          <a:bodyPr/>
          <a:lstStyle/>
          <a:p>
            <a:fld id="{AD801045-C8AC-8142-BA5C-EFCD800DBE58}" type="datetimeFigureOut">
              <a:rPr lang="de-DE" smtClean="0"/>
              <a:t>07.05.26</a:t>
            </a:fld>
            <a:endParaRPr lang="de-DE"/>
          </a:p>
        </p:txBody>
      </p:sp>
      <p:sp>
        <p:nvSpPr>
          <p:cNvPr id="6" name="Fußzeilenplatzhalter 5">
            <a:extLst>
              <a:ext uri="{FF2B5EF4-FFF2-40B4-BE49-F238E27FC236}">
                <a16:creationId xmlns:a16="http://schemas.microsoft.com/office/drawing/2014/main" id="{22E9F847-0886-278C-78BC-600B90F4BC8A}"/>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527DA21-C943-2647-31C9-916896A29678}"/>
              </a:ext>
            </a:extLst>
          </p:cNvPr>
          <p:cNvSpPr>
            <a:spLocks noGrp="1"/>
          </p:cNvSpPr>
          <p:nvPr>
            <p:ph type="sldNum" sz="quarter" idx="12"/>
          </p:nvPr>
        </p:nvSpPr>
        <p:spPr/>
        <p:txBody>
          <a:bodyPr/>
          <a:lstStyle/>
          <a:p>
            <a:fld id="{5A772AEC-E837-2C4D-83B9-7533D26DA7AB}" type="slidenum">
              <a:rPr lang="de-DE" smtClean="0"/>
              <a:t>‹Nr.›</a:t>
            </a:fld>
            <a:endParaRPr lang="de-DE"/>
          </a:p>
        </p:txBody>
      </p:sp>
    </p:spTree>
    <p:extLst>
      <p:ext uri="{BB962C8B-B14F-4D97-AF65-F5344CB8AC3E}">
        <p14:creationId xmlns:p14="http://schemas.microsoft.com/office/powerpoint/2010/main" val="3400418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0B9C6A-E131-954C-7087-778423E81AF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2A1D9C93-5C1B-2D2A-7492-ADAD699D3D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7C0E1E9A-5850-02C2-0065-284AD48A5C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D7CDFDA-EB55-DAB4-8AA2-AB1D38205DB4}"/>
              </a:ext>
            </a:extLst>
          </p:cNvPr>
          <p:cNvSpPr>
            <a:spLocks noGrp="1"/>
          </p:cNvSpPr>
          <p:nvPr>
            <p:ph type="dt" sz="half" idx="10"/>
          </p:nvPr>
        </p:nvSpPr>
        <p:spPr/>
        <p:txBody>
          <a:bodyPr/>
          <a:lstStyle/>
          <a:p>
            <a:fld id="{AD801045-C8AC-8142-BA5C-EFCD800DBE58}" type="datetimeFigureOut">
              <a:rPr lang="de-DE" smtClean="0"/>
              <a:t>07.05.26</a:t>
            </a:fld>
            <a:endParaRPr lang="de-DE"/>
          </a:p>
        </p:txBody>
      </p:sp>
      <p:sp>
        <p:nvSpPr>
          <p:cNvPr id="6" name="Fußzeilenplatzhalter 5">
            <a:extLst>
              <a:ext uri="{FF2B5EF4-FFF2-40B4-BE49-F238E27FC236}">
                <a16:creationId xmlns:a16="http://schemas.microsoft.com/office/drawing/2014/main" id="{47F1ABB3-6D60-F4AF-8962-2C8F321113C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043BED3-8325-1739-F055-1D7F6F1E93B7}"/>
              </a:ext>
            </a:extLst>
          </p:cNvPr>
          <p:cNvSpPr>
            <a:spLocks noGrp="1"/>
          </p:cNvSpPr>
          <p:nvPr>
            <p:ph type="sldNum" sz="quarter" idx="12"/>
          </p:nvPr>
        </p:nvSpPr>
        <p:spPr/>
        <p:txBody>
          <a:bodyPr/>
          <a:lstStyle/>
          <a:p>
            <a:fld id="{5A772AEC-E837-2C4D-83B9-7533D26DA7AB}" type="slidenum">
              <a:rPr lang="de-DE" smtClean="0"/>
              <a:t>‹Nr.›</a:t>
            </a:fld>
            <a:endParaRPr lang="de-DE"/>
          </a:p>
        </p:txBody>
      </p:sp>
    </p:spTree>
    <p:extLst>
      <p:ext uri="{BB962C8B-B14F-4D97-AF65-F5344CB8AC3E}">
        <p14:creationId xmlns:p14="http://schemas.microsoft.com/office/powerpoint/2010/main" val="3966280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86985C-9275-B505-8795-5825A00BA733}"/>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4706A27C-3DCB-2CF8-BB34-C5E7BB358EF9}"/>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34FE756-28A1-B42C-7DEF-FB2574EA7A43}"/>
              </a:ext>
            </a:extLst>
          </p:cNvPr>
          <p:cNvSpPr>
            <a:spLocks noGrp="1"/>
          </p:cNvSpPr>
          <p:nvPr>
            <p:ph type="dt" sz="half" idx="10"/>
          </p:nvPr>
        </p:nvSpPr>
        <p:spPr/>
        <p:txBody>
          <a:bodyPr/>
          <a:lstStyle/>
          <a:p>
            <a:fld id="{AD801045-C8AC-8142-BA5C-EFCD800DBE58}" type="datetimeFigureOut">
              <a:rPr lang="de-DE" smtClean="0"/>
              <a:t>07.05.26</a:t>
            </a:fld>
            <a:endParaRPr lang="de-DE"/>
          </a:p>
        </p:txBody>
      </p:sp>
      <p:sp>
        <p:nvSpPr>
          <p:cNvPr id="5" name="Fußzeilenplatzhalter 4">
            <a:extLst>
              <a:ext uri="{FF2B5EF4-FFF2-40B4-BE49-F238E27FC236}">
                <a16:creationId xmlns:a16="http://schemas.microsoft.com/office/drawing/2014/main" id="{A98819EB-63AB-9D31-5110-A5B1820F266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979C75F-A23A-1256-7A9D-68BFF0BC6FAD}"/>
              </a:ext>
            </a:extLst>
          </p:cNvPr>
          <p:cNvSpPr>
            <a:spLocks noGrp="1"/>
          </p:cNvSpPr>
          <p:nvPr>
            <p:ph type="sldNum" sz="quarter" idx="12"/>
          </p:nvPr>
        </p:nvSpPr>
        <p:spPr/>
        <p:txBody>
          <a:bodyPr/>
          <a:lstStyle/>
          <a:p>
            <a:fld id="{5A772AEC-E837-2C4D-83B9-7533D26DA7AB}" type="slidenum">
              <a:rPr lang="de-DE" smtClean="0"/>
              <a:t>‹Nr.›</a:t>
            </a:fld>
            <a:endParaRPr lang="de-DE"/>
          </a:p>
        </p:txBody>
      </p:sp>
    </p:spTree>
    <p:extLst>
      <p:ext uri="{BB962C8B-B14F-4D97-AF65-F5344CB8AC3E}">
        <p14:creationId xmlns:p14="http://schemas.microsoft.com/office/powerpoint/2010/main" val="3695822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E4F9A3B8-5660-F586-A07C-860FA5D895C0}"/>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D711E90C-747B-AC9B-0712-E88E0E543652}"/>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4028ADB-1B68-5026-4120-8DBCF8DB4F4C}"/>
              </a:ext>
            </a:extLst>
          </p:cNvPr>
          <p:cNvSpPr>
            <a:spLocks noGrp="1"/>
          </p:cNvSpPr>
          <p:nvPr>
            <p:ph type="dt" sz="half" idx="10"/>
          </p:nvPr>
        </p:nvSpPr>
        <p:spPr/>
        <p:txBody>
          <a:bodyPr/>
          <a:lstStyle/>
          <a:p>
            <a:fld id="{AD801045-C8AC-8142-BA5C-EFCD800DBE58}" type="datetimeFigureOut">
              <a:rPr lang="de-DE" smtClean="0"/>
              <a:t>07.05.26</a:t>
            </a:fld>
            <a:endParaRPr lang="de-DE"/>
          </a:p>
        </p:txBody>
      </p:sp>
      <p:sp>
        <p:nvSpPr>
          <p:cNvPr id="5" name="Fußzeilenplatzhalter 4">
            <a:extLst>
              <a:ext uri="{FF2B5EF4-FFF2-40B4-BE49-F238E27FC236}">
                <a16:creationId xmlns:a16="http://schemas.microsoft.com/office/drawing/2014/main" id="{68010AF3-6EBA-9F0C-9CBF-46358FCEDD9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C60A946-27B3-D439-BFFC-984D93D7F2D6}"/>
              </a:ext>
            </a:extLst>
          </p:cNvPr>
          <p:cNvSpPr>
            <a:spLocks noGrp="1"/>
          </p:cNvSpPr>
          <p:nvPr>
            <p:ph type="sldNum" sz="quarter" idx="12"/>
          </p:nvPr>
        </p:nvSpPr>
        <p:spPr/>
        <p:txBody>
          <a:bodyPr/>
          <a:lstStyle/>
          <a:p>
            <a:fld id="{5A772AEC-E837-2C4D-83B9-7533D26DA7AB}" type="slidenum">
              <a:rPr lang="de-DE" smtClean="0"/>
              <a:t>‹Nr.›</a:t>
            </a:fld>
            <a:endParaRPr lang="de-DE"/>
          </a:p>
        </p:txBody>
      </p:sp>
    </p:spTree>
    <p:extLst>
      <p:ext uri="{BB962C8B-B14F-4D97-AF65-F5344CB8AC3E}">
        <p14:creationId xmlns:p14="http://schemas.microsoft.com/office/powerpoint/2010/main" val="236524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869CB40-5BE3-8CB4-FF17-3A8F3F1373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1F0FB53A-B5A4-6C07-ADE8-8D6FF7941E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DBE260A-E8C9-6006-87F3-4720F2E809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801045-C8AC-8142-BA5C-EFCD800DBE58}" type="datetimeFigureOut">
              <a:rPr lang="de-DE" smtClean="0"/>
              <a:t>07.05.26</a:t>
            </a:fld>
            <a:endParaRPr lang="de-DE"/>
          </a:p>
        </p:txBody>
      </p:sp>
      <p:sp>
        <p:nvSpPr>
          <p:cNvPr id="5" name="Fußzeilenplatzhalter 4">
            <a:extLst>
              <a:ext uri="{FF2B5EF4-FFF2-40B4-BE49-F238E27FC236}">
                <a16:creationId xmlns:a16="http://schemas.microsoft.com/office/drawing/2014/main" id="{E832D38D-B304-9CAD-41D3-00D5346839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B711F032-B5CD-1F1D-9AE1-FEC55690EB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772AEC-E837-2C4D-83B9-7533D26DA7AB}" type="slidenum">
              <a:rPr lang="de-DE" smtClean="0"/>
              <a:t>‹Nr.›</a:t>
            </a:fld>
            <a:endParaRPr lang="de-DE"/>
          </a:p>
        </p:txBody>
      </p:sp>
    </p:spTree>
    <p:extLst>
      <p:ext uri="{BB962C8B-B14F-4D97-AF65-F5344CB8AC3E}">
        <p14:creationId xmlns:p14="http://schemas.microsoft.com/office/powerpoint/2010/main" val="479875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2A20F-3B3A-0814-6B81-AB7AD3657297}"/>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7BF39C43-FF79-CEFD-A866-D43EE67AF764}"/>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ACD6B848-F494-1C15-2A2E-3372C5E2A261}"/>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feld 7">
            <a:extLst>
              <a:ext uri="{FF2B5EF4-FFF2-40B4-BE49-F238E27FC236}">
                <a16:creationId xmlns:a16="http://schemas.microsoft.com/office/drawing/2014/main" id="{0DE48D5E-B810-C07E-2D5A-3B1700627595}"/>
              </a:ext>
            </a:extLst>
          </p:cNvPr>
          <p:cNvSpPr txBox="1"/>
          <p:nvPr/>
        </p:nvSpPr>
        <p:spPr>
          <a:xfrm>
            <a:off x="5447950" y="1136047"/>
            <a:ext cx="3162700" cy="584775"/>
          </a:xfrm>
          <a:prstGeom prst="rect">
            <a:avLst/>
          </a:prstGeom>
          <a:noFill/>
        </p:spPr>
        <p:txBody>
          <a:bodyPr wrap="square" rtlCol="0">
            <a:spAutoFit/>
          </a:bodyPr>
          <a:lstStyle/>
          <a:p>
            <a:pPr algn="ctr"/>
            <a:r>
              <a:rPr lang="de-DE" sz="3200" b="1" dirty="0"/>
              <a:t>Wadō Ryū Karate</a:t>
            </a:r>
          </a:p>
        </p:txBody>
      </p:sp>
      <p:sp>
        <p:nvSpPr>
          <p:cNvPr id="9" name="Textfeld 8">
            <a:extLst>
              <a:ext uri="{FF2B5EF4-FFF2-40B4-BE49-F238E27FC236}">
                <a16:creationId xmlns:a16="http://schemas.microsoft.com/office/drawing/2014/main" id="{A085CE9B-88F6-0C77-C05C-54B28B754728}"/>
              </a:ext>
            </a:extLst>
          </p:cNvPr>
          <p:cNvSpPr txBox="1"/>
          <p:nvPr/>
        </p:nvSpPr>
        <p:spPr>
          <a:xfrm>
            <a:off x="8912319" y="1435209"/>
            <a:ext cx="2499079" cy="1569660"/>
          </a:xfrm>
          <a:prstGeom prst="rect">
            <a:avLst/>
          </a:prstGeom>
          <a:noFill/>
        </p:spPr>
        <p:txBody>
          <a:bodyPr wrap="square" rtlCol="0">
            <a:spAutoFit/>
          </a:bodyPr>
          <a:lstStyle/>
          <a:p>
            <a:pPr algn="ctr"/>
            <a:r>
              <a:rPr lang="de-DE" sz="3200" b="1" dirty="0"/>
              <a:t>Takamura ha Shindō Yoshin Ryū</a:t>
            </a:r>
          </a:p>
        </p:txBody>
      </p:sp>
      <p:sp>
        <p:nvSpPr>
          <p:cNvPr id="10" name="Textfeld 9">
            <a:extLst>
              <a:ext uri="{FF2B5EF4-FFF2-40B4-BE49-F238E27FC236}">
                <a16:creationId xmlns:a16="http://schemas.microsoft.com/office/drawing/2014/main" id="{E73F1BAC-3D06-ED32-25D3-F2732AE1799E}"/>
              </a:ext>
            </a:extLst>
          </p:cNvPr>
          <p:cNvSpPr txBox="1"/>
          <p:nvPr/>
        </p:nvSpPr>
        <p:spPr>
          <a:xfrm>
            <a:off x="3943230" y="2609939"/>
            <a:ext cx="858168" cy="584775"/>
          </a:xfrm>
          <a:prstGeom prst="rect">
            <a:avLst/>
          </a:prstGeom>
          <a:noFill/>
        </p:spPr>
        <p:txBody>
          <a:bodyPr wrap="square" rtlCol="0">
            <a:spAutoFit/>
          </a:bodyPr>
          <a:lstStyle/>
          <a:p>
            <a:pPr algn="ctr"/>
            <a:r>
              <a:rPr lang="de-DE" sz="3200" b="1" dirty="0"/>
              <a:t>Taiji</a:t>
            </a:r>
          </a:p>
        </p:txBody>
      </p:sp>
      <p:sp>
        <p:nvSpPr>
          <p:cNvPr id="11" name="Textfeld 10">
            <a:extLst>
              <a:ext uri="{FF2B5EF4-FFF2-40B4-BE49-F238E27FC236}">
                <a16:creationId xmlns:a16="http://schemas.microsoft.com/office/drawing/2014/main" id="{5F5857F5-5818-6186-2DDA-B60EE9049588}"/>
              </a:ext>
            </a:extLst>
          </p:cNvPr>
          <p:cNvSpPr txBox="1"/>
          <p:nvPr/>
        </p:nvSpPr>
        <p:spPr>
          <a:xfrm>
            <a:off x="6057851" y="4024993"/>
            <a:ext cx="1942898" cy="584775"/>
          </a:xfrm>
          <a:prstGeom prst="rect">
            <a:avLst/>
          </a:prstGeom>
          <a:noFill/>
        </p:spPr>
        <p:txBody>
          <a:bodyPr wrap="square" rtlCol="0">
            <a:spAutoFit/>
          </a:bodyPr>
          <a:lstStyle/>
          <a:p>
            <a:pPr algn="ctr"/>
            <a:r>
              <a:rPr lang="de-DE" sz="3200" b="1" dirty="0"/>
              <a:t>Kickboxen</a:t>
            </a:r>
          </a:p>
        </p:txBody>
      </p:sp>
      <p:pic>
        <p:nvPicPr>
          <p:cNvPr id="15" name="Grafik 14">
            <a:extLst>
              <a:ext uri="{FF2B5EF4-FFF2-40B4-BE49-F238E27FC236}">
                <a16:creationId xmlns:a16="http://schemas.microsoft.com/office/drawing/2014/main" id="{2E7DDAC0-1DE2-4001-6E38-A2B099D60985}"/>
              </a:ext>
            </a:extLst>
          </p:cNvPr>
          <p:cNvPicPr>
            <a:picLocks noChangeAspect="1"/>
          </p:cNvPicPr>
          <p:nvPr/>
        </p:nvPicPr>
        <p:blipFill>
          <a:blip r:embed="rId3"/>
          <a:stretch>
            <a:fillRect/>
          </a:stretch>
        </p:blipFill>
        <p:spPr>
          <a:xfrm>
            <a:off x="3514386" y="3141545"/>
            <a:ext cx="1663700" cy="1245021"/>
          </a:xfrm>
          <a:prstGeom prst="rect">
            <a:avLst/>
          </a:prstGeom>
        </p:spPr>
      </p:pic>
      <p:pic>
        <p:nvPicPr>
          <p:cNvPr id="2052" name="Picture 4">
            <a:extLst>
              <a:ext uri="{FF2B5EF4-FFF2-40B4-BE49-F238E27FC236}">
                <a16:creationId xmlns:a16="http://schemas.microsoft.com/office/drawing/2014/main" id="{5645C1ED-A207-C0B5-D6C4-FF5B0E0C9D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1202" y="4658320"/>
            <a:ext cx="1576197" cy="154467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19FFF0E7-1E25-E718-B3AE-51ADED2529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0272" y="1769374"/>
            <a:ext cx="1942895" cy="143113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8">
            <a:extLst>
              <a:ext uri="{FF2B5EF4-FFF2-40B4-BE49-F238E27FC236}">
                <a16:creationId xmlns:a16="http://schemas.microsoft.com/office/drawing/2014/main" id="{8DB01C5F-BCFD-B85E-0093-D9CCBD56F8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31316" y="2973835"/>
            <a:ext cx="1461087" cy="1439912"/>
          </a:xfrm>
          <a:prstGeom prst="rect">
            <a:avLst/>
          </a:prstGeom>
          <a:noFill/>
          <a:extLst>
            <a:ext uri="{909E8E84-426E-40DD-AFC4-6F175D3DCCD1}">
              <a14:hiddenFill xmlns:a14="http://schemas.microsoft.com/office/drawing/2010/main">
                <a:solidFill>
                  <a:srgbClr val="FFFFFF"/>
                </a:solidFill>
              </a14:hiddenFill>
            </a:ext>
          </a:extLst>
        </p:spPr>
      </p:pic>
      <p:sp>
        <p:nvSpPr>
          <p:cNvPr id="4" name="Textfeld 3">
            <a:extLst>
              <a:ext uri="{FF2B5EF4-FFF2-40B4-BE49-F238E27FC236}">
                <a16:creationId xmlns:a16="http://schemas.microsoft.com/office/drawing/2014/main" id="{0B778CF7-930D-D6FD-0B4B-1C9438C06023}"/>
              </a:ext>
            </a:extLst>
          </p:cNvPr>
          <p:cNvSpPr txBox="1"/>
          <p:nvPr/>
        </p:nvSpPr>
        <p:spPr>
          <a:xfrm>
            <a:off x="63995" y="875884"/>
            <a:ext cx="2499095" cy="6001643"/>
          </a:xfrm>
          <a:prstGeom prst="rect">
            <a:avLst/>
          </a:prstGeom>
          <a:noFill/>
        </p:spPr>
        <p:txBody>
          <a:bodyPr wrap="square" rtlCol="0">
            <a:spAutoFit/>
          </a:bodyPr>
          <a:lstStyle/>
          <a:p>
            <a:r>
              <a:rPr lang="de-DE" sz="2400" b="1" dirty="0"/>
              <a:t>Startseite</a:t>
            </a:r>
            <a:br>
              <a:rPr lang="de-DE" sz="2400" b="1" dirty="0"/>
            </a:br>
            <a:r>
              <a:rPr lang="de-DE" sz="2400" b="1" dirty="0"/>
              <a:t>Aktuelles</a:t>
            </a:r>
          </a:p>
          <a:p>
            <a:r>
              <a:rPr lang="de-DE" sz="2400" b="1" dirty="0"/>
              <a:t>Vereinsleitung</a:t>
            </a:r>
            <a:br>
              <a:rPr lang="de-DE" sz="2400" b="1" dirty="0"/>
            </a:br>
            <a:r>
              <a:rPr lang="de-DE" sz="2400" b="1" dirty="0"/>
              <a:t>Kontakt</a:t>
            </a:r>
            <a:br>
              <a:rPr lang="de-DE" sz="2400" b="1" dirty="0"/>
            </a:br>
            <a:br>
              <a:rPr lang="de-DE" sz="2400" b="1" dirty="0"/>
            </a:br>
            <a:r>
              <a:rPr lang="de-DE" sz="2400" b="1" dirty="0"/>
              <a:t>Wadō Ryū Karate</a:t>
            </a:r>
            <a:br>
              <a:rPr lang="de-DE" sz="2400" b="1" dirty="0"/>
            </a:br>
            <a:r>
              <a:rPr lang="de-DE" sz="2400" b="1" dirty="0"/>
              <a:t>Takamura ha Shindō Yoshin Ryū</a:t>
            </a:r>
            <a:br>
              <a:rPr lang="de-DE" sz="2400" b="1" dirty="0"/>
            </a:br>
            <a:r>
              <a:rPr lang="de-DE" sz="2400" b="1" dirty="0"/>
              <a:t>Taiji</a:t>
            </a:r>
            <a:br>
              <a:rPr lang="de-DE" sz="2400" b="1" dirty="0"/>
            </a:br>
            <a:r>
              <a:rPr lang="de-DE" sz="2400" b="1" dirty="0"/>
              <a:t>Kickboxen</a:t>
            </a:r>
          </a:p>
          <a:p>
            <a:endParaRPr lang="de-DE" sz="2400" b="1" dirty="0"/>
          </a:p>
          <a:p>
            <a:r>
              <a:rPr lang="de-DE" sz="2400" b="1" dirty="0"/>
              <a:t>Trainingsorte</a:t>
            </a:r>
          </a:p>
          <a:p>
            <a:r>
              <a:rPr lang="de-DE" sz="2400" b="1" dirty="0"/>
              <a:t>Trainingszeiten</a:t>
            </a:r>
            <a:br>
              <a:rPr lang="de-DE" sz="2400" b="1" dirty="0"/>
            </a:br>
            <a:r>
              <a:rPr lang="de-DE" sz="2400" b="1" dirty="0" err="1"/>
              <a:t>Trainerschaft</a:t>
            </a:r>
            <a:br>
              <a:rPr lang="de-DE" sz="2400" b="1" dirty="0"/>
            </a:br>
            <a:r>
              <a:rPr lang="de-DE" sz="2400" b="1" dirty="0"/>
              <a:t>Vereinsgeschichte</a:t>
            </a:r>
            <a:br>
              <a:rPr lang="de-DE" sz="2400" b="1" dirty="0"/>
            </a:br>
            <a:r>
              <a:rPr lang="de-DE" sz="2400" b="1" dirty="0"/>
              <a:t>Vereinskultur</a:t>
            </a:r>
          </a:p>
        </p:txBody>
      </p:sp>
    </p:spTree>
    <p:extLst>
      <p:ext uri="{BB962C8B-B14F-4D97-AF65-F5344CB8AC3E}">
        <p14:creationId xmlns:p14="http://schemas.microsoft.com/office/powerpoint/2010/main" val="783684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E657B-8FE4-557F-9A8D-BA2199E065A0}"/>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6C09F982-FCED-40C1-5B26-BBD6274AC458}"/>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66D2549E-2CFE-518B-BE43-18353E716044}"/>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56749126-15FE-9353-7EF9-39CBEA19B51F}"/>
              </a:ext>
            </a:extLst>
          </p:cNvPr>
          <p:cNvSpPr txBox="1"/>
          <p:nvPr/>
        </p:nvSpPr>
        <p:spPr>
          <a:xfrm>
            <a:off x="2295858" y="872909"/>
            <a:ext cx="2280980" cy="461665"/>
          </a:xfrm>
          <a:prstGeom prst="rect">
            <a:avLst/>
          </a:prstGeom>
          <a:noFill/>
        </p:spPr>
        <p:txBody>
          <a:bodyPr wrap="square" rtlCol="0">
            <a:spAutoFit/>
          </a:bodyPr>
          <a:lstStyle/>
          <a:p>
            <a:pPr algn="ctr"/>
            <a:r>
              <a:rPr lang="de-DE" sz="2400" b="1" dirty="0"/>
              <a:t>Aktuelles</a:t>
            </a:r>
          </a:p>
        </p:txBody>
      </p:sp>
      <p:sp>
        <p:nvSpPr>
          <p:cNvPr id="17" name="Textfeld 16">
            <a:extLst>
              <a:ext uri="{FF2B5EF4-FFF2-40B4-BE49-F238E27FC236}">
                <a16:creationId xmlns:a16="http://schemas.microsoft.com/office/drawing/2014/main" id="{B3F3DE12-DF9A-E5D8-A0BC-C2E5695038A2}"/>
              </a:ext>
            </a:extLst>
          </p:cNvPr>
          <p:cNvSpPr txBox="1"/>
          <p:nvPr/>
        </p:nvSpPr>
        <p:spPr>
          <a:xfrm>
            <a:off x="2711624" y="1394700"/>
            <a:ext cx="9289028" cy="5355312"/>
          </a:xfrm>
          <a:prstGeom prst="rect">
            <a:avLst/>
          </a:prstGeom>
          <a:noFill/>
        </p:spPr>
        <p:txBody>
          <a:bodyPr wrap="square" rtlCol="0">
            <a:spAutoFit/>
          </a:bodyPr>
          <a:lstStyle/>
          <a:p>
            <a:r>
              <a:rPr lang="de-DE" b="1" dirty="0"/>
              <a:t>Zukünftige Lehrgänge zu </a:t>
            </a:r>
            <a:r>
              <a:rPr lang="de-DE" b="1" dirty="0" err="1"/>
              <a:t>Wado</a:t>
            </a:r>
            <a:r>
              <a:rPr lang="de-DE" b="1" dirty="0"/>
              <a:t> Ryu Karate und Takamura ha Shindo Yōshin Ryū sind auch im Internet zu finden.</a:t>
            </a:r>
            <a:br>
              <a:rPr lang="de-DE" b="1" dirty="0"/>
            </a:br>
            <a:br>
              <a:rPr lang="de-DE" dirty="0"/>
            </a:br>
            <a:r>
              <a:rPr lang="de-DE" b="1" dirty="0"/>
              <a:t>Wadō Ryū Karate:</a:t>
            </a:r>
            <a:br>
              <a:rPr lang="de-DE" b="1" dirty="0"/>
            </a:br>
            <a:r>
              <a:rPr lang="de-DE" dirty="0"/>
              <a:t>https://</a:t>
            </a:r>
            <a:r>
              <a:rPr lang="de-DE" dirty="0" err="1"/>
              <a:t>www.wado-karate.de</a:t>
            </a:r>
            <a:r>
              <a:rPr lang="de-DE" dirty="0"/>
              <a:t>/</a:t>
            </a:r>
            <a:r>
              <a:rPr lang="de-DE" dirty="0" err="1"/>
              <a:t>lehrgaenge</a:t>
            </a:r>
            <a:r>
              <a:rPr lang="de-DE" dirty="0"/>
              <a:t>/</a:t>
            </a:r>
            <a:br>
              <a:rPr lang="de-DE" dirty="0"/>
            </a:br>
            <a:br>
              <a:rPr lang="de-DE" dirty="0"/>
            </a:br>
            <a:r>
              <a:rPr lang="de-DE" b="1" dirty="0"/>
              <a:t>Takamura ha Shindō Yōshin Ryū:</a:t>
            </a:r>
            <a:br>
              <a:rPr lang="de-DE" b="1" dirty="0"/>
            </a:br>
            <a:r>
              <a:rPr lang="de-DE" dirty="0"/>
              <a:t>https://</a:t>
            </a:r>
            <a:r>
              <a:rPr lang="de-DE" dirty="0" err="1"/>
              <a:t>www.shinyokai.com</a:t>
            </a:r>
            <a:r>
              <a:rPr lang="de-DE" dirty="0"/>
              <a:t>/</a:t>
            </a:r>
            <a:r>
              <a:rPr lang="de-DE" dirty="0" err="1"/>
              <a:t>SeminarsList.php</a:t>
            </a:r>
            <a:br>
              <a:rPr lang="de-DE" dirty="0"/>
            </a:br>
            <a:br>
              <a:rPr lang="de-DE" dirty="0"/>
            </a:br>
            <a:r>
              <a:rPr lang="de-DE" dirty="0"/>
              <a:t>Lehrganginfos werden immer über die eigenen Chatgruppen (z.B. </a:t>
            </a:r>
            <a:r>
              <a:rPr lang="de-DE" dirty="0" err="1"/>
              <a:t>Whatsapp</a:t>
            </a:r>
            <a:r>
              <a:rPr lang="de-DE" dirty="0"/>
              <a:t>, </a:t>
            </a:r>
            <a:r>
              <a:rPr lang="de-DE" dirty="0" err="1"/>
              <a:t>Telegram</a:t>
            </a:r>
            <a:r>
              <a:rPr lang="de-DE" dirty="0"/>
              <a:t>) und im Training von den Cheftrainern weitergegeben.</a:t>
            </a:r>
          </a:p>
          <a:p>
            <a:endParaRPr lang="de-DE" dirty="0"/>
          </a:p>
          <a:p>
            <a:r>
              <a:rPr lang="de-DE" b="1" dirty="0"/>
              <a:t>Probetraining:</a:t>
            </a:r>
            <a:br>
              <a:rPr lang="de-DE" dirty="0"/>
            </a:br>
            <a:r>
              <a:rPr lang="de-DE" dirty="0"/>
              <a:t>Ein kostenloses zweiwöchiges Probetraining ist jederzeit möglich. Komme einfach ins Training, T-Shirt und lange Sporthose reicht aus. Im </a:t>
            </a:r>
            <a:r>
              <a:rPr lang="de-DE" dirty="0" err="1"/>
              <a:t>Wado</a:t>
            </a:r>
            <a:r>
              <a:rPr lang="de-DE" dirty="0"/>
              <a:t> Ryu Karate und im Takamura ha Shindo Yoshin Ryu wird barfuß trainiert. </a:t>
            </a:r>
            <a:br>
              <a:rPr lang="de-DE" dirty="0"/>
            </a:br>
            <a:br>
              <a:rPr lang="de-DE" dirty="0"/>
            </a:br>
            <a:r>
              <a:rPr lang="de-DE" b="1" dirty="0"/>
              <a:t>Vereinsbeitrag und Aufnahmeantrag: </a:t>
            </a:r>
            <a:r>
              <a:rPr lang="de-DE" dirty="0"/>
              <a:t>Bei Interesse kannst du dich beim 1.Vorstand über den  Vereinskontakt oder über die Mailadresse melden.</a:t>
            </a:r>
          </a:p>
        </p:txBody>
      </p:sp>
      <p:sp>
        <p:nvSpPr>
          <p:cNvPr id="2" name="Textfeld 1">
            <a:extLst>
              <a:ext uri="{FF2B5EF4-FFF2-40B4-BE49-F238E27FC236}">
                <a16:creationId xmlns:a16="http://schemas.microsoft.com/office/drawing/2014/main" id="{8CA597DB-7567-9ABA-C924-6E6AAB8967ED}"/>
              </a:ext>
            </a:extLst>
          </p:cNvPr>
          <p:cNvSpPr txBox="1"/>
          <p:nvPr/>
        </p:nvSpPr>
        <p:spPr>
          <a:xfrm>
            <a:off x="63995" y="875884"/>
            <a:ext cx="2499095" cy="6001643"/>
          </a:xfrm>
          <a:prstGeom prst="rect">
            <a:avLst/>
          </a:prstGeom>
          <a:noFill/>
        </p:spPr>
        <p:txBody>
          <a:bodyPr wrap="square" rtlCol="0">
            <a:spAutoFit/>
          </a:bodyPr>
          <a:lstStyle/>
          <a:p>
            <a:r>
              <a:rPr lang="de-DE" sz="2400" b="1" dirty="0"/>
              <a:t>Startseite</a:t>
            </a:r>
            <a:br>
              <a:rPr lang="de-DE" sz="2400" b="1" dirty="0"/>
            </a:br>
            <a:r>
              <a:rPr lang="de-DE" sz="2400" b="1" dirty="0"/>
              <a:t>Aktuelles</a:t>
            </a:r>
          </a:p>
          <a:p>
            <a:r>
              <a:rPr lang="de-DE" sz="2400" b="1" dirty="0"/>
              <a:t>Vereinsleitung</a:t>
            </a:r>
            <a:br>
              <a:rPr lang="de-DE" sz="2400" b="1" dirty="0"/>
            </a:br>
            <a:r>
              <a:rPr lang="de-DE" sz="2400" b="1" dirty="0"/>
              <a:t>Kontakt</a:t>
            </a:r>
            <a:br>
              <a:rPr lang="de-DE" sz="2400" b="1" dirty="0"/>
            </a:br>
            <a:br>
              <a:rPr lang="de-DE" sz="2400" b="1" dirty="0"/>
            </a:br>
            <a:r>
              <a:rPr lang="de-DE" sz="2400" b="1" dirty="0"/>
              <a:t>Wadō Ryū Karate</a:t>
            </a:r>
            <a:br>
              <a:rPr lang="de-DE" sz="2400" b="1" dirty="0"/>
            </a:br>
            <a:r>
              <a:rPr lang="de-DE" sz="2400" b="1" dirty="0"/>
              <a:t>Takamura ha Shindō Yoshin Ryū</a:t>
            </a:r>
            <a:br>
              <a:rPr lang="de-DE" sz="2400" b="1" dirty="0"/>
            </a:br>
            <a:r>
              <a:rPr lang="de-DE" sz="2400" b="1" dirty="0"/>
              <a:t>Taiji</a:t>
            </a:r>
            <a:br>
              <a:rPr lang="de-DE" sz="2400" b="1" dirty="0"/>
            </a:br>
            <a:r>
              <a:rPr lang="de-DE" sz="2400" b="1" dirty="0"/>
              <a:t>Kickboxen</a:t>
            </a:r>
          </a:p>
          <a:p>
            <a:endParaRPr lang="de-DE" sz="2400" b="1" dirty="0"/>
          </a:p>
          <a:p>
            <a:r>
              <a:rPr lang="de-DE" sz="2400" b="1" dirty="0"/>
              <a:t>Trainingsorte</a:t>
            </a:r>
          </a:p>
          <a:p>
            <a:r>
              <a:rPr lang="de-DE" sz="2400" b="1" dirty="0"/>
              <a:t>Trainingszeiten</a:t>
            </a:r>
            <a:br>
              <a:rPr lang="de-DE" sz="2400" b="1" dirty="0"/>
            </a:br>
            <a:r>
              <a:rPr lang="de-DE" sz="2400" b="1" dirty="0" err="1"/>
              <a:t>Trainerschaft</a:t>
            </a:r>
            <a:br>
              <a:rPr lang="de-DE" sz="2400" b="1" dirty="0"/>
            </a:br>
            <a:r>
              <a:rPr lang="de-DE" sz="2400" b="1" dirty="0"/>
              <a:t>Vereinsgeschichte</a:t>
            </a:r>
            <a:br>
              <a:rPr lang="de-DE" sz="2400" b="1" dirty="0"/>
            </a:br>
            <a:r>
              <a:rPr lang="de-DE" sz="2400" b="1" dirty="0"/>
              <a:t>Vereinskultur</a:t>
            </a:r>
          </a:p>
        </p:txBody>
      </p:sp>
    </p:spTree>
    <p:extLst>
      <p:ext uri="{BB962C8B-B14F-4D97-AF65-F5344CB8AC3E}">
        <p14:creationId xmlns:p14="http://schemas.microsoft.com/office/powerpoint/2010/main" val="3597364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242BA-99B9-F201-3430-12BE95658980}"/>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1CFAB4BF-A374-41F2-6B68-D8F7392454DF}"/>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0DD60DDB-635B-8EC1-1B3A-4551ACC8C426}"/>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35C22797-E547-289C-7C88-E0DD9606BA4C}"/>
              </a:ext>
            </a:extLst>
          </p:cNvPr>
          <p:cNvSpPr txBox="1"/>
          <p:nvPr/>
        </p:nvSpPr>
        <p:spPr>
          <a:xfrm>
            <a:off x="2553219" y="1001326"/>
            <a:ext cx="2246638" cy="461665"/>
          </a:xfrm>
          <a:prstGeom prst="rect">
            <a:avLst/>
          </a:prstGeom>
          <a:noFill/>
        </p:spPr>
        <p:txBody>
          <a:bodyPr wrap="square" rtlCol="0">
            <a:spAutoFit/>
          </a:bodyPr>
          <a:lstStyle/>
          <a:p>
            <a:pPr algn="ctr"/>
            <a:r>
              <a:rPr lang="de-DE" sz="2400" b="1" dirty="0"/>
              <a:t>Vereinsleitung</a:t>
            </a:r>
          </a:p>
        </p:txBody>
      </p:sp>
      <p:graphicFrame>
        <p:nvGraphicFramePr>
          <p:cNvPr id="4" name="Tabelle 3">
            <a:extLst>
              <a:ext uri="{FF2B5EF4-FFF2-40B4-BE49-F238E27FC236}">
                <a16:creationId xmlns:a16="http://schemas.microsoft.com/office/drawing/2014/main" id="{A12E356C-6ECD-B6B8-EFF3-E424342B9D02}"/>
              </a:ext>
            </a:extLst>
          </p:cNvPr>
          <p:cNvGraphicFramePr>
            <a:graphicFrameLocks noGrp="1"/>
          </p:cNvGraphicFramePr>
          <p:nvPr>
            <p:extLst>
              <p:ext uri="{D42A27DB-BD31-4B8C-83A1-F6EECF244321}">
                <p14:modId xmlns:p14="http://schemas.microsoft.com/office/powerpoint/2010/main" val="2126835066"/>
              </p:ext>
            </p:extLst>
          </p:nvPr>
        </p:nvGraphicFramePr>
        <p:xfrm>
          <a:off x="2783632" y="1588433"/>
          <a:ext cx="8430132" cy="2931160"/>
        </p:xfrm>
        <a:graphic>
          <a:graphicData uri="http://schemas.openxmlformats.org/drawingml/2006/table">
            <a:tbl>
              <a:tblPr firstRow="1" bandRow="1">
                <a:tableStyleId>{5940675A-B579-460E-94D1-54222C63F5DA}</a:tableStyleId>
              </a:tblPr>
              <a:tblGrid>
                <a:gridCol w="2315086">
                  <a:extLst>
                    <a:ext uri="{9D8B030D-6E8A-4147-A177-3AD203B41FA5}">
                      <a16:colId xmlns:a16="http://schemas.microsoft.com/office/drawing/2014/main" val="1727845557"/>
                    </a:ext>
                  </a:extLst>
                </a:gridCol>
                <a:gridCol w="3955046">
                  <a:extLst>
                    <a:ext uri="{9D8B030D-6E8A-4147-A177-3AD203B41FA5}">
                      <a16:colId xmlns:a16="http://schemas.microsoft.com/office/drawing/2014/main" val="901434994"/>
                    </a:ext>
                  </a:extLst>
                </a:gridCol>
                <a:gridCol w="2160000">
                  <a:extLst>
                    <a:ext uri="{9D8B030D-6E8A-4147-A177-3AD203B41FA5}">
                      <a16:colId xmlns:a16="http://schemas.microsoft.com/office/drawing/2014/main" val="2847703244"/>
                    </a:ext>
                  </a:extLst>
                </a:gridCol>
              </a:tblGrid>
              <a:tr h="370840">
                <a:tc>
                  <a:txBody>
                    <a:bodyPr/>
                    <a:lstStyle/>
                    <a:p>
                      <a:r>
                        <a:rPr lang="de-DE" b="1" dirty="0"/>
                        <a:t>Name</a:t>
                      </a:r>
                    </a:p>
                  </a:txBody>
                  <a:tcPr/>
                </a:tc>
                <a:tc>
                  <a:txBody>
                    <a:bodyPr/>
                    <a:lstStyle/>
                    <a:p>
                      <a:r>
                        <a:rPr lang="de-DE" b="1" dirty="0"/>
                        <a:t>Mail</a:t>
                      </a:r>
                    </a:p>
                  </a:txBody>
                  <a:tcPr/>
                </a:tc>
                <a:tc>
                  <a:txBody>
                    <a:bodyPr/>
                    <a:lstStyle/>
                    <a:p>
                      <a:r>
                        <a:rPr lang="de-DE" b="1" dirty="0"/>
                        <a:t>Funktion/Amt</a:t>
                      </a:r>
                    </a:p>
                  </a:txBody>
                  <a:tcPr/>
                </a:tc>
                <a:extLst>
                  <a:ext uri="{0D108BD9-81ED-4DB2-BD59-A6C34878D82A}">
                    <a16:rowId xmlns:a16="http://schemas.microsoft.com/office/drawing/2014/main" val="1536260766"/>
                  </a:ext>
                </a:extLst>
              </a:tr>
              <a:tr h="370840">
                <a:tc>
                  <a:txBody>
                    <a:bodyPr/>
                    <a:lstStyle/>
                    <a:p>
                      <a:r>
                        <a:rPr lang="de-DE" dirty="0"/>
                        <a:t>Sven</a:t>
                      </a:r>
                    </a:p>
                    <a:p>
                      <a:r>
                        <a:rPr lang="de-DE" dirty="0"/>
                        <a:t>Gerstendörfer</a:t>
                      </a:r>
                    </a:p>
                  </a:txBody>
                  <a:tcPr/>
                </a:tc>
                <a:tc>
                  <a:txBody>
                    <a:bodyPr/>
                    <a:lstStyle/>
                    <a:p>
                      <a:r>
                        <a:rPr lang="de-DE" dirty="0" err="1"/>
                        <a:t>svengerstendoerfer@gmail.com</a:t>
                      </a:r>
                      <a:endParaRPr lang="de-DE" dirty="0"/>
                    </a:p>
                  </a:txBody>
                  <a:tcPr/>
                </a:tc>
                <a:tc>
                  <a:txBody>
                    <a:bodyPr/>
                    <a:lstStyle/>
                    <a:p>
                      <a:r>
                        <a:rPr lang="de-DE" dirty="0" err="1"/>
                        <a:t>Dojoleiter</a:t>
                      </a:r>
                      <a:endParaRPr lang="de-DE" dirty="0"/>
                    </a:p>
                  </a:txBody>
                  <a:tcPr/>
                </a:tc>
                <a:extLst>
                  <a:ext uri="{0D108BD9-81ED-4DB2-BD59-A6C34878D82A}">
                    <a16:rowId xmlns:a16="http://schemas.microsoft.com/office/drawing/2014/main" val="3572401965"/>
                  </a:ext>
                </a:extLst>
              </a:tr>
              <a:tr h="370840">
                <a:tc>
                  <a:txBody>
                    <a:bodyPr/>
                    <a:lstStyle/>
                    <a:p>
                      <a:r>
                        <a:rPr lang="de-DE" dirty="0"/>
                        <a:t>Peter</a:t>
                      </a:r>
                    </a:p>
                    <a:p>
                      <a:r>
                        <a:rPr lang="de-DE" dirty="0"/>
                        <a:t>Volkert</a:t>
                      </a:r>
                    </a:p>
                  </a:txBody>
                  <a:tcPr/>
                </a:tc>
                <a:tc>
                  <a:txBody>
                    <a:bodyPr/>
                    <a:lstStyle/>
                    <a:p>
                      <a:r>
                        <a:rPr lang="de-DE" dirty="0" err="1"/>
                        <a:t>peter.volkert@karate-freising.de</a:t>
                      </a:r>
                      <a:endParaRPr lang="de-DE" dirty="0"/>
                    </a:p>
                  </a:txBody>
                  <a:tcPr/>
                </a:tc>
                <a:tc>
                  <a:txBody>
                    <a:bodyPr/>
                    <a:lstStyle/>
                    <a:p>
                      <a:r>
                        <a:rPr lang="de-DE" dirty="0"/>
                        <a:t>1.Vorstand</a:t>
                      </a:r>
                    </a:p>
                  </a:txBody>
                  <a:tcPr/>
                </a:tc>
                <a:extLst>
                  <a:ext uri="{0D108BD9-81ED-4DB2-BD59-A6C34878D82A}">
                    <a16:rowId xmlns:a16="http://schemas.microsoft.com/office/drawing/2014/main" val="2516798822"/>
                  </a:ext>
                </a:extLst>
              </a:tr>
              <a:tr h="370840">
                <a:tc>
                  <a:txBody>
                    <a:bodyPr/>
                    <a:lstStyle/>
                    <a:p>
                      <a:r>
                        <a:rPr lang="de-DE" dirty="0"/>
                        <a:t>Max</a:t>
                      </a:r>
                    </a:p>
                    <a:p>
                      <a:r>
                        <a:rPr lang="de-DE" dirty="0"/>
                        <a:t>Gleixner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maxx0281@gmx.de</a:t>
                      </a:r>
                    </a:p>
                  </a:txBody>
                  <a:tcPr/>
                </a:tc>
                <a:tc>
                  <a:txBody>
                    <a:bodyPr/>
                    <a:lstStyle/>
                    <a:p>
                      <a:r>
                        <a:rPr lang="de-DE" dirty="0"/>
                        <a:t>2.Vorstand</a:t>
                      </a:r>
                    </a:p>
                  </a:txBody>
                  <a:tcPr/>
                </a:tc>
                <a:extLst>
                  <a:ext uri="{0D108BD9-81ED-4DB2-BD59-A6C34878D82A}">
                    <a16:rowId xmlns:a16="http://schemas.microsoft.com/office/drawing/2014/main" val="2562534681"/>
                  </a:ext>
                </a:extLst>
              </a:tr>
              <a:tr h="370840">
                <a:tc>
                  <a:txBody>
                    <a:bodyPr/>
                    <a:lstStyle/>
                    <a:p>
                      <a:r>
                        <a:rPr lang="de-DE" dirty="0"/>
                        <a:t>Friedemann</a:t>
                      </a:r>
                    </a:p>
                    <a:p>
                      <a:r>
                        <a:rPr lang="de-DE" dirty="0"/>
                        <a:t>Böhme</a:t>
                      </a:r>
                    </a:p>
                  </a:txBody>
                  <a:tcPr/>
                </a:tc>
                <a:tc>
                  <a:txBody>
                    <a:bodyPr/>
                    <a:lstStyle/>
                    <a:p>
                      <a:r>
                        <a:rPr lang="de-DE" dirty="0" err="1"/>
                        <a:t>friedemann.boehme@karate-freising.de</a:t>
                      </a:r>
                      <a:endParaRPr lang="de-DE" dirty="0"/>
                    </a:p>
                  </a:txBody>
                  <a:tcPr/>
                </a:tc>
                <a:tc>
                  <a:txBody>
                    <a:bodyPr/>
                    <a:lstStyle/>
                    <a:p>
                      <a:r>
                        <a:rPr lang="de-DE" dirty="0"/>
                        <a:t>Kassier</a:t>
                      </a:r>
                    </a:p>
                  </a:txBody>
                  <a:tcPr/>
                </a:tc>
                <a:extLst>
                  <a:ext uri="{0D108BD9-81ED-4DB2-BD59-A6C34878D82A}">
                    <a16:rowId xmlns:a16="http://schemas.microsoft.com/office/drawing/2014/main" val="1515443428"/>
                  </a:ext>
                </a:extLst>
              </a:tr>
            </a:tbl>
          </a:graphicData>
        </a:graphic>
      </p:graphicFrame>
    </p:spTree>
    <p:extLst>
      <p:ext uri="{BB962C8B-B14F-4D97-AF65-F5344CB8AC3E}">
        <p14:creationId xmlns:p14="http://schemas.microsoft.com/office/powerpoint/2010/main" val="724225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756E4-280F-255F-AA83-D5D317EE6BB2}"/>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69269068-8FF7-6C38-5186-FB36A4F6940E}"/>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sp>
        <p:nvSpPr>
          <p:cNvPr id="7" name="Textfeld 6">
            <a:extLst>
              <a:ext uri="{FF2B5EF4-FFF2-40B4-BE49-F238E27FC236}">
                <a16:creationId xmlns:a16="http://schemas.microsoft.com/office/drawing/2014/main" id="{1BDA5211-A056-5FA1-0089-18C8D82351C0}"/>
              </a:ext>
            </a:extLst>
          </p:cNvPr>
          <p:cNvSpPr txBox="1"/>
          <p:nvPr/>
        </p:nvSpPr>
        <p:spPr>
          <a:xfrm>
            <a:off x="2553219" y="1001326"/>
            <a:ext cx="1498600" cy="461665"/>
          </a:xfrm>
          <a:prstGeom prst="rect">
            <a:avLst/>
          </a:prstGeom>
          <a:noFill/>
        </p:spPr>
        <p:txBody>
          <a:bodyPr wrap="square" rtlCol="0">
            <a:spAutoFit/>
          </a:bodyPr>
          <a:lstStyle/>
          <a:p>
            <a:pPr algn="ctr"/>
            <a:r>
              <a:rPr lang="de-DE" sz="2400" b="1" dirty="0"/>
              <a:t>Kontakt</a:t>
            </a:r>
          </a:p>
        </p:txBody>
      </p:sp>
      <p:pic>
        <p:nvPicPr>
          <p:cNvPr id="21" name="Grafik 20">
            <a:extLst>
              <a:ext uri="{FF2B5EF4-FFF2-40B4-BE49-F238E27FC236}">
                <a16:creationId xmlns:a16="http://schemas.microsoft.com/office/drawing/2014/main" id="{62633B8E-219A-3554-8F3C-EDDD51BF6463}"/>
              </a:ext>
            </a:extLst>
          </p:cNvPr>
          <p:cNvPicPr>
            <a:picLocks noChangeAspect="1"/>
          </p:cNvPicPr>
          <p:nvPr/>
        </p:nvPicPr>
        <p:blipFill>
          <a:blip r:embed="rId3"/>
          <a:stretch>
            <a:fillRect/>
          </a:stretch>
        </p:blipFill>
        <p:spPr>
          <a:xfrm>
            <a:off x="4780144" y="1160076"/>
            <a:ext cx="4717916" cy="5517232"/>
          </a:xfrm>
          <a:prstGeom prst="rect">
            <a:avLst/>
          </a:prstGeom>
        </p:spPr>
      </p:pic>
      <p:cxnSp>
        <p:nvCxnSpPr>
          <p:cNvPr id="23" name="Gerade Verbindung 22">
            <a:extLst>
              <a:ext uri="{FF2B5EF4-FFF2-40B4-BE49-F238E27FC236}">
                <a16:creationId xmlns:a16="http://schemas.microsoft.com/office/drawing/2014/main" id="{CF8BA51D-C98A-3774-A73E-8C540E26CFDB}"/>
              </a:ext>
            </a:extLst>
          </p:cNvPr>
          <p:cNvCxnSpPr>
            <a:cxnSpLocks/>
          </p:cNvCxnSpPr>
          <p:nvPr/>
        </p:nvCxnSpPr>
        <p:spPr>
          <a:xfrm>
            <a:off x="5149855" y="5877272"/>
            <a:ext cx="109016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Gerade Verbindung 25">
            <a:extLst>
              <a:ext uri="{FF2B5EF4-FFF2-40B4-BE49-F238E27FC236}">
                <a16:creationId xmlns:a16="http://schemas.microsoft.com/office/drawing/2014/main" id="{6EF9D479-FA46-9D6B-C9CB-9390BFE139C0}"/>
              </a:ext>
            </a:extLst>
          </p:cNvPr>
          <p:cNvCxnSpPr>
            <a:cxnSpLocks/>
          </p:cNvCxnSpPr>
          <p:nvPr/>
        </p:nvCxnSpPr>
        <p:spPr>
          <a:xfrm>
            <a:off x="4871864" y="5157192"/>
            <a:ext cx="13681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E1302EFA-CE1D-BE7E-DB13-1EFFD2AA4495}"/>
              </a:ext>
            </a:extLst>
          </p:cNvPr>
          <p:cNvSpPr txBox="1"/>
          <p:nvPr/>
        </p:nvSpPr>
        <p:spPr>
          <a:xfrm>
            <a:off x="6395356" y="5188693"/>
            <a:ext cx="3412950" cy="369332"/>
          </a:xfrm>
          <a:prstGeom prst="rect">
            <a:avLst/>
          </a:prstGeom>
          <a:noFill/>
        </p:spPr>
        <p:txBody>
          <a:bodyPr wrap="square" rtlCol="0">
            <a:spAutoFit/>
          </a:bodyPr>
          <a:lstStyle/>
          <a:p>
            <a:r>
              <a:rPr lang="de-DE" dirty="0"/>
              <a:t>Takamura ha Shindō Yōshin Ryū</a:t>
            </a:r>
          </a:p>
        </p:txBody>
      </p:sp>
      <p:cxnSp>
        <p:nvCxnSpPr>
          <p:cNvPr id="31" name="Gerade Verbindung 30">
            <a:extLst>
              <a:ext uri="{FF2B5EF4-FFF2-40B4-BE49-F238E27FC236}">
                <a16:creationId xmlns:a16="http://schemas.microsoft.com/office/drawing/2014/main" id="{876966A2-6A1D-BD1E-6F9F-7E531DDDBFD9}"/>
              </a:ext>
            </a:extLst>
          </p:cNvPr>
          <p:cNvCxnSpPr>
            <a:cxnSpLocks/>
          </p:cNvCxnSpPr>
          <p:nvPr/>
        </p:nvCxnSpPr>
        <p:spPr>
          <a:xfrm>
            <a:off x="5090390" y="5392494"/>
            <a:ext cx="129364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77351685-12D5-5317-ACFE-EEB0027CECC6}"/>
              </a:ext>
            </a:extLst>
          </p:cNvPr>
          <p:cNvSpPr txBox="1"/>
          <p:nvPr/>
        </p:nvSpPr>
        <p:spPr>
          <a:xfrm>
            <a:off x="6378995" y="5699502"/>
            <a:ext cx="936104" cy="369332"/>
          </a:xfrm>
          <a:prstGeom prst="rect">
            <a:avLst/>
          </a:prstGeom>
          <a:noFill/>
        </p:spPr>
        <p:txBody>
          <a:bodyPr wrap="square" rtlCol="0">
            <a:spAutoFit/>
          </a:bodyPr>
          <a:lstStyle/>
          <a:p>
            <a:r>
              <a:rPr lang="de-DE" dirty="0"/>
              <a:t>Taiji</a:t>
            </a:r>
          </a:p>
        </p:txBody>
      </p:sp>
      <p:cxnSp>
        <p:nvCxnSpPr>
          <p:cNvPr id="4" name="Gerade Verbindung 3">
            <a:extLst>
              <a:ext uri="{FF2B5EF4-FFF2-40B4-BE49-F238E27FC236}">
                <a16:creationId xmlns:a16="http://schemas.microsoft.com/office/drawing/2014/main" id="{8A62FEDA-45CE-B2D0-CAB9-20CCA109B29D}"/>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E53BD845-B9A5-570C-BFE5-8587B2FD4EB7}"/>
              </a:ext>
            </a:extLst>
          </p:cNvPr>
          <p:cNvSpPr txBox="1"/>
          <p:nvPr/>
        </p:nvSpPr>
        <p:spPr>
          <a:xfrm>
            <a:off x="6378995" y="4716155"/>
            <a:ext cx="3412950" cy="369332"/>
          </a:xfrm>
          <a:prstGeom prst="rect">
            <a:avLst/>
          </a:prstGeom>
          <a:noFill/>
        </p:spPr>
        <p:txBody>
          <a:bodyPr wrap="square" rtlCol="0">
            <a:spAutoFit/>
          </a:bodyPr>
          <a:lstStyle/>
          <a:p>
            <a:r>
              <a:rPr lang="de-DE" dirty="0"/>
              <a:t>Wadō Ryū Karate</a:t>
            </a:r>
          </a:p>
        </p:txBody>
      </p:sp>
      <p:cxnSp>
        <p:nvCxnSpPr>
          <p:cNvPr id="8" name="Gerade Verbindung 7">
            <a:extLst>
              <a:ext uri="{FF2B5EF4-FFF2-40B4-BE49-F238E27FC236}">
                <a16:creationId xmlns:a16="http://schemas.microsoft.com/office/drawing/2014/main" id="{711D37D7-B4AD-2BF1-0439-193A91574332}"/>
              </a:ext>
            </a:extLst>
          </p:cNvPr>
          <p:cNvCxnSpPr>
            <a:cxnSpLocks/>
          </p:cNvCxnSpPr>
          <p:nvPr/>
        </p:nvCxnSpPr>
        <p:spPr>
          <a:xfrm>
            <a:off x="4871864" y="4906433"/>
            <a:ext cx="13681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1147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4E215-C2A1-048B-78B9-47EA59A70A79}"/>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B450D28C-9413-1A44-4F39-C6B83A733EB7}"/>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EA2CC6EA-5A12-EC16-C051-204E1B826D9C}"/>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027A9004-14D2-504B-91DA-F1CC9084D5BA}"/>
              </a:ext>
            </a:extLst>
          </p:cNvPr>
          <p:cNvSpPr txBox="1"/>
          <p:nvPr/>
        </p:nvSpPr>
        <p:spPr>
          <a:xfrm>
            <a:off x="3886083" y="1132644"/>
            <a:ext cx="8042028" cy="4801314"/>
          </a:xfrm>
          <a:prstGeom prst="rect">
            <a:avLst/>
          </a:prstGeom>
          <a:noFill/>
        </p:spPr>
        <p:txBody>
          <a:bodyPr wrap="square" rtlCol="0">
            <a:spAutoFit/>
          </a:bodyPr>
          <a:lstStyle/>
          <a:p>
            <a:pPr algn="l"/>
            <a:r>
              <a:rPr lang="de-DE" b="0" i="0" u="none" strike="noStrike" dirty="0" err="1">
                <a:solidFill>
                  <a:srgbClr val="1D3E4F"/>
                </a:solidFill>
                <a:effectLst/>
              </a:rPr>
              <a:t>Wado</a:t>
            </a:r>
            <a:r>
              <a:rPr lang="de-DE" b="0" i="0" u="none" strike="noStrike" dirty="0">
                <a:solidFill>
                  <a:srgbClr val="1D3E4F"/>
                </a:solidFill>
                <a:effectLst/>
              </a:rPr>
              <a:t>-Ryu Karate ist im Unterschied zu anderen Karatestilen, wie </a:t>
            </a:r>
            <a:r>
              <a:rPr lang="de-DE" b="0" i="0" u="none" strike="noStrike" dirty="0" err="1">
                <a:solidFill>
                  <a:srgbClr val="1D3E4F"/>
                </a:solidFill>
                <a:effectLst/>
              </a:rPr>
              <a:t>Shotokan</a:t>
            </a:r>
            <a:r>
              <a:rPr lang="de-DE" b="0" i="0" u="none" strike="noStrike" dirty="0">
                <a:solidFill>
                  <a:srgbClr val="1D3E4F"/>
                </a:solidFill>
                <a:effectLst/>
              </a:rPr>
              <a:t> Ryu oder </a:t>
            </a:r>
            <a:r>
              <a:rPr lang="de-DE" b="0" i="0" u="none" strike="noStrike" dirty="0" err="1">
                <a:solidFill>
                  <a:srgbClr val="1D3E4F"/>
                </a:solidFill>
                <a:effectLst/>
              </a:rPr>
              <a:t>Goju</a:t>
            </a:r>
            <a:r>
              <a:rPr lang="de-DE" b="0" i="0" u="none" strike="noStrike" dirty="0">
                <a:solidFill>
                  <a:srgbClr val="1D3E4F"/>
                </a:solidFill>
                <a:effectLst/>
              </a:rPr>
              <a:t> Ryu, eine Kombination aus der japanischer Kampfkunst </a:t>
            </a:r>
            <a:r>
              <a:rPr lang="de-DE" b="0" i="0" u="none" strike="noStrike" dirty="0" err="1">
                <a:solidFill>
                  <a:srgbClr val="1D3E4F"/>
                </a:solidFill>
                <a:effectLst/>
              </a:rPr>
              <a:t>Shindo</a:t>
            </a:r>
            <a:r>
              <a:rPr lang="de-DE" b="0" i="0" u="none" strike="noStrike" dirty="0">
                <a:solidFill>
                  <a:srgbClr val="1D3E4F"/>
                </a:solidFill>
                <a:effectLst/>
              </a:rPr>
              <a:t> </a:t>
            </a:r>
            <a:r>
              <a:rPr lang="de-DE" b="0" i="0" u="none" strike="noStrike" dirty="0" err="1">
                <a:solidFill>
                  <a:srgbClr val="1D3E4F"/>
                </a:solidFill>
                <a:effectLst/>
              </a:rPr>
              <a:t>Yoshin</a:t>
            </a:r>
            <a:r>
              <a:rPr lang="de-DE" b="0" i="0" u="none" strike="noStrike" dirty="0">
                <a:solidFill>
                  <a:srgbClr val="1D3E4F"/>
                </a:solidFill>
                <a:effectLst/>
              </a:rPr>
              <a:t> Ryu </a:t>
            </a:r>
            <a:r>
              <a:rPr lang="de-DE" b="0" i="0" u="none" strike="noStrike" dirty="0" err="1">
                <a:solidFill>
                  <a:srgbClr val="1D3E4F"/>
                </a:solidFill>
                <a:effectLst/>
              </a:rPr>
              <a:t>Jujitsu</a:t>
            </a:r>
            <a:r>
              <a:rPr lang="de-DE" b="0" i="0" u="none" strike="noStrike" dirty="0">
                <a:solidFill>
                  <a:srgbClr val="1D3E4F"/>
                </a:solidFill>
                <a:effectLst/>
              </a:rPr>
              <a:t> und dem aus Okinawa stammenden Karate. Es wurde von </a:t>
            </a:r>
            <a:r>
              <a:rPr lang="de-DE" b="0" i="0" u="none" strike="noStrike" dirty="0" err="1">
                <a:solidFill>
                  <a:srgbClr val="1D3E4F"/>
                </a:solidFill>
                <a:effectLst/>
              </a:rPr>
              <a:t>Otsuka</a:t>
            </a:r>
            <a:r>
              <a:rPr lang="de-DE" b="0" i="0" u="none" strike="noStrike" dirty="0">
                <a:solidFill>
                  <a:srgbClr val="1D3E4F"/>
                </a:solidFill>
                <a:effectLst/>
              </a:rPr>
              <a:t> </a:t>
            </a:r>
            <a:r>
              <a:rPr lang="de-DE" b="0" i="0" u="none" strike="noStrike" dirty="0" err="1">
                <a:solidFill>
                  <a:srgbClr val="1D3E4F"/>
                </a:solidFill>
                <a:effectLst/>
              </a:rPr>
              <a:t>Hironori</a:t>
            </a:r>
            <a:r>
              <a:rPr lang="de-DE" b="0" i="0" u="none" strike="noStrike" dirty="0">
                <a:solidFill>
                  <a:srgbClr val="1D3E4F"/>
                </a:solidFill>
                <a:effectLst/>
              </a:rPr>
              <a:t> Sensei (1892 - 1982) entwickelt.</a:t>
            </a:r>
            <a:br>
              <a:rPr lang="de-DE" b="0" i="0" u="none" strike="noStrike" dirty="0">
                <a:solidFill>
                  <a:srgbClr val="1D3E4F"/>
                </a:solidFill>
                <a:effectLst/>
              </a:rPr>
            </a:br>
            <a:endParaRPr lang="de-DE" b="0" i="0" u="none" strike="noStrike" dirty="0">
              <a:solidFill>
                <a:srgbClr val="1D3E4F"/>
              </a:solidFill>
              <a:effectLst/>
            </a:endParaRPr>
          </a:p>
          <a:p>
            <a:pPr algn="l"/>
            <a:r>
              <a:rPr lang="de-DE" b="0" i="0" u="none" strike="noStrike" dirty="0" err="1">
                <a:solidFill>
                  <a:srgbClr val="1D3E4F"/>
                </a:solidFill>
                <a:effectLst/>
              </a:rPr>
              <a:t>Otsuka</a:t>
            </a:r>
            <a:r>
              <a:rPr lang="de-DE" b="0" i="0" u="none" strike="noStrike" dirty="0">
                <a:solidFill>
                  <a:srgbClr val="1D3E4F"/>
                </a:solidFill>
                <a:effectLst/>
              </a:rPr>
              <a:t> Sensei trainierte zunächst </a:t>
            </a:r>
            <a:r>
              <a:rPr lang="de-DE" b="0" i="0" u="none" strike="noStrike" dirty="0" err="1">
                <a:solidFill>
                  <a:srgbClr val="1D3E4F"/>
                </a:solidFill>
                <a:effectLst/>
              </a:rPr>
              <a:t>Jujitsu</a:t>
            </a:r>
            <a:r>
              <a:rPr lang="de-DE" b="0" i="0" u="none" strike="noStrike" dirty="0">
                <a:solidFill>
                  <a:srgbClr val="1D3E4F"/>
                </a:solidFill>
                <a:effectLst/>
              </a:rPr>
              <a:t>. Anschließend studierte er </a:t>
            </a:r>
            <a:r>
              <a:rPr lang="de-DE" b="0" i="0" u="none" strike="noStrike" dirty="0" err="1">
                <a:solidFill>
                  <a:srgbClr val="1D3E4F"/>
                </a:solidFill>
                <a:effectLst/>
              </a:rPr>
              <a:t>Shindo</a:t>
            </a:r>
            <a:r>
              <a:rPr lang="de-DE" b="0" i="0" u="none" strike="noStrike" dirty="0">
                <a:solidFill>
                  <a:srgbClr val="1D3E4F"/>
                </a:solidFill>
                <a:effectLst/>
              </a:rPr>
              <a:t> </a:t>
            </a:r>
            <a:r>
              <a:rPr lang="de-DE" b="0" i="0" u="none" strike="noStrike" dirty="0" err="1">
                <a:solidFill>
                  <a:srgbClr val="1D3E4F"/>
                </a:solidFill>
                <a:effectLst/>
              </a:rPr>
              <a:t>Yoshin</a:t>
            </a:r>
            <a:r>
              <a:rPr lang="de-DE" b="0" i="0" u="none" strike="noStrike" dirty="0">
                <a:solidFill>
                  <a:srgbClr val="1D3E4F"/>
                </a:solidFill>
                <a:effectLst/>
              </a:rPr>
              <a:t> Ryu </a:t>
            </a:r>
            <a:r>
              <a:rPr lang="de-DE" b="0" i="0" u="none" strike="noStrike" dirty="0" err="1">
                <a:solidFill>
                  <a:srgbClr val="1D3E4F"/>
                </a:solidFill>
                <a:effectLst/>
              </a:rPr>
              <a:t>Jujitsu</a:t>
            </a:r>
            <a:r>
              <a:rPr lang="de-DE" b="0" i="0" u="none" strike="noStrike" dirty="0">
                <a:solidFill>
                  <a:srgbClr val="1D3E4F"/>
                </a:solidFill>
                <a:effectLst/>
              </a:rPr>
              <a:t> unter Nakayama </a:t>
            </a:r>
            <a:r>
              <a:rPr lang="de-DE" b="0" i="0" u="none" strike="noStrike" dirty="0" err="1">
                <a:solidFill>
                  <a:srgbClr val="1D3E4F"/>
                </a:solidFill>
                <a:effectLst/>
              </a:rPr>
              <a:t>Tatsuaburo</a:t>
            </a:r>
            <a:r>
              <a:rPr lang="de-DE" b="0" i="0" u="none" strike="noStrike" dirty="0">
                <a:solidFill>
                  <a:srgbClr val="1D3E4F"/>
                </a:solidFill>
                <a:effectLst/>
              </a:rPr>
              <a:t> Sensei. Bevor </a:t>
            </a:r>
            <a:r>
              <a:rPr lang="de-DE" b="0" i="0" u="none" strike="noStrike" dirty="0" err="1">
                <a:solidFill>
                  <a:srgbClr val="1D3E4F"/>
                </a:solidFill>
                <a:effectLst/>
              </a:rPr>
              <a:t>Otsuka</a:t>
            </a:r>
            <a:r>
              <a:rPr lang="de-DE" b="0" i="0" u="none" strike="noStrike" dirty="0">
                <a:solidFill>
                  <a:srgbClr val="1D3E4F"/>
                </a:solidFill>
                <a:effectLst/>
              </a:rPr>
              <a:t> Sensei 1922 mit dem Karatetraining bei </a:t>
            </a:r>
            <a:r>
              <a:rPr lang="de-DE" b="0" i="0" u="none" strike="noStrike" dirty="0" err="1">
                <a:solidFill>
                  <a:srgbClr val="1D3E4F"/>
                </a:solidFill>
                <a:effectLst/>
              </a:rPr>
              <a:t>Funakoshi</a:t>
            </a:r>
            <a:r>
              <a:rPr lang="de-DE" b="0" i="0" u="none" strike="noStrike" dirty="0">
                <a:solidFill>
                  <a:srgbClr val="1D3E4F"/>
                </a:solidFill>
                <a:effectLst/>
              </a:rPr>
              <a:t> Sensei begann, erhielt er von Nakayama </a:t>
            </a:r>
            <a:r>
              <a:rPr lang="de-DE" b="0" i="0" u="none" strike="noStrike" dirty="0" err="1">
                <a:solidFill>
                  <a:srgbClr val="1D3E4F"/>
                </a:solidFill>
                <a:effectLst/>
              </a:rPr>
              <a:t>Tatsuaburo</a:t>
            </a:r>
            <a:r>
              <a:rPr lang="de-DE" b="0" i="0" u="none" strike="noStrike" dirty="0">
                <a:solidFill>
                  <a:srgbClr val="1D3E4F"/>
                </a:solidFill>
                <a:effectLst/>
              </a:rPr>
              <a:t> Sensei eine Unterrichtslizenz im </a:t>
            </a:r>
            <a:r>
              <a:rPr lang="de-DE" b="0" i="0" u="none" strike="noStrike" dirty="0" err="1">
                <a:solidFill>
                  <a:srgbClr val="1D3E4F"/>
                </a:solidFill>
                <a:effectLst/>
              </a:rPr>
              <a:t>Shindo</a:t>
            </a:r>
            <a:r>
              <a:rPr lang="de-DE" b="0" i="0" u="none" strike="noStrike" dirty="0">
                <a:solidFill>
                  <a:srgbClr val="1D3E4F"/>
                </a:solidFill>
                <a:effectLst/>
              </a:rPr>
              <a:t> </a:t>
            </a:r>
            <a:r>
              <a:rPr lang="de-DE" b="0" i="0" u="none" strike="noStrike" dirty="0" err="1">
                <a:solidFill>
                  <a:srgbClr val="1D3E4F"/>
                </a:solidFill>
                <a:effectLst/>
              </a:rPr>
              <a:t>Yoshin</a:t>
            </a:r>
            <a:r>
              <a:rPr lang="de-DE" b="0" i="0" u="none" strike="noStrike" dirty="0">
                <a:solidFill>
                  <a:srgbClr val="1D3E4F"/>
                </a:solidFill>
                <a:effectLst/>
              </a:rPr>
              <a:t> Ryu </a:t>
            </a:r>
            <a:r>
              <a:rPr lang="de-DE" b="0" i="0" u="none" strike="noStrike" dirty="0" err="1">
                <a:solidFill>
                  <a:srgbClr val="1D3E4F"/>
                </a:solidFill>
                <a:effectLst/>
              </a:rPr>
              <a:t>Jujitsu</a:t>
            </a:r>
            <a:r>
              <a:rPr lang="de-DE" dirty="0">
                <a:solidFill>
                  <a:srgbClr val="1D3E4F"/>
                </a:solidFill>
              </a:rPr>
              <a:t>.</a:t>
            </a:r>
            <a:br>
              <a:rPr lang="de-DE" b="0" i="0" u="none" strike="noStrike" dirty="0">
                <a:solidFill>
                  <a:srgbClr val="1D3E4F"/>
                </a:solidFill>
                <a:effectLst/>
              </a:rPr>
            </a:br>
            <a:endParaRPr lang="de-DE" b="0" i="0" u="none" strike="noStrike" dirty="0">
              <a:solidFill>
                <a:srgbClr val="1D3E4F"/>
              </a:solidFill>
              <a:effectLst/>
            </a:endParaRPr>
          </a:p>
          <a:p>
            <a:pPr algn="l"/>
            <a:r>
              <a:rPr lang="de-DE" b="0" i="0" u="none" strike="noStrike" dirty="0">
                <a:solidFill>
                  <a:srgbClr val="1D3E4F"/>
                </a:solidFill>
                <a:effectLst/>
              </a:rPr>
              <a:t>1934 wird als das Gründungsjahr des </a:t>
            </a:r>
            <a:r>
              <a:rPr lang="de-DE" b="0" i="0" u="none" strike="noStrike" dirty="0" err="1">
                <a:solidFill>
                  <a:srgbClr val="1D3E4F"/>
                </a:solidFill>
                <a:effectLst/>
              </a:rPr>
              <a:t>Wado</a:t>
            </a:r>
            <a:r>
              <a:rPr lang="de-DE" b="0" i="0" u="none" strike="noStrike" dirty="0">
                <a:solidFill>
                  <a:srgbClr val="1D3E4F"/>
                </a:solidFill>
                <a:effectLst/>
              </a:rPr>
              <a:t>-Ryu-Karate angesehen. Nach </a:t>
            </a:r>
            <a:r>
              <a:rPr lang="de-DE" b="0" i="0" u="none" strike="noStrike" dirty="0" err="1">
                <a:solidFill>
                  <a:srgbClr val="1D3E4F"/>
                </a:solidFill>
                <a:effectLst/>
              </a:rPr>
              <a:t>Otsuka</a:t>
            </a:r>
            <a:r>
              <a:rPr lang="de-DE" b="0" i="0" u="none" strike="noStrike" dirty="0">
                <a:solidFill>
                  <a:srgbClr val="1D3E4F"/>
                </a:solidFill>
                <a:effectLst/>
              </a:rPr>
              <a:t> </a:t>
            </a:r>
            <a:r>
              <a:rPr lang="de-DE" b="0" i="0" u="none" strike="noStrike" dirty="0" err="1">
                <a:solidFill>
                  <a:srgbClr val="1D3E4F"/>
                </a:solidFill>
                <a:effectLst/>
              </a:rPr>
              <a:t>Senseis</a:t>
            </a:r>
            <a:r>
              <a:rPr lang="de-DE" b="0" i="0" u="none" strike="noStrike" dirty="0">
                <a:solidFill>
                  <a:srgbClr val="1D3E4F"/>
                </a:solidFill>
                <a:effectLst/>
              </a:rPr>
              <a:t> Tod </a:t>
            </a:r>
            <a:r>
              <a:rPr lang="de-DE" dirty="0">
                <a:solidFill>
                  <a:srgbClr val="1D3E4F"/>
                </a:solidFill>
              </a:rPr>
              <a:t>führte sein </a:t>
            </a:r>
            <a:r>
              <a:rPr lang="de-DE" b="0" i="0" u="none" strike="noStrike" dirty="0">
                <a:solidFill>
                  <a:srgbClr val="1D3E4F"/>
                </a:solidFill>
                <a:effectLst/>
              </a:rPr>
              <a:t>Sohn </a:t>
            </a:r>
            <a:r>
              <a:rPr lang="de-DE" b="0" i="0" u="none" strike="noStrike" dirty="0" err="1">
                <a:solidFill>
                  <a:srgbClr val="1D3E4F"/>
                </a:solidFill>
                <a:effectLst/>
              </a:rPr>
              <a:t>Otsuka</a:t>
            </a:r>
            <a:r>
              <a:rPr lang="de-DE" b="0" i="0" u="none" strike="noStrike" dirty="0">
                <a:solidFill>
                  <a:srgbClr val="1D3E4F"/>
                </a:solidFill>
                <a:effectLst/>
              </a:rPr>
              <a:t> Jiro Sensei die </a:t>
            </a:r>
            <a:r>
              <a:rPr lang="de-DE" b="0" i="0" u="none" strike="noStrike" dirty="0" err="1">
                <a:solidFill>
                  <a:srgbClr val="1D3E4F"/>
                </a:solidFill>
                <a:effectLst/>
              </a:rPr>
              <a:t>Wado</a:t>
            </a:r>
            <a:r>
              <a:rPr lang="de-DE" b="0" i="0" u="none" strike="noStrike" dirty="0">
                <a:solidFill>
                  <a:srgbClr val="1D3E4F"/>
                </a:solidFill>
                <a:effectLst/>
              </a:rPr>
              <a:t>-Ryu, der 2015 verstarb. </a:t>
            </a:r>
            <a:r>
              <a:rPr lang="de-DE" dirty="0" err="1">
                <a:solidFill>
                  <a:srgbClr val="1D3E4F"/>
                </a:solidFill>
              </a:rPr>
              <a:t>Otsuka</a:t>
            </a:r>
            <a:r>
              <a:rPr lang="de-DE" dirty="0">
                <a:solidFill>
                  <a:srgbClr val="1D3E4F"/>
                </a:solidFill>
              </a:rPr>
              <a:t> Jiro </a:t>
            </a:r>
            <a:r>
              <a:rPr lang="de-DE" dirty="0" err="1">
                <a:solidFill>
                  <a:srgbClr val="1D3E4F"/>
                </a:solidFill>
              </a:rPr>
              <a:t>Senseis</a:t>
            </a:r>
            <a:r>
              <a:rPr lang="de-DE" dirty="0">
                <a:solidFill>
                  <a:srgbClr val="1D3E4F"/>
                </a:solidFill>
              </a:rPr>
              <a:t> Sohn </a:t>
            </a:r>
            <a:r>
              <a:rPr lang="de-DE" dirty="0" err="1">
                <a:solidFill>
                  <a:srgbClr val="1D3E4F"/>
                </a:solidFill>
              </a:rPr>
              <a:t>Otsuka</a:t>
            </a:r>
            <a:r>
              <a:rPr lang="de-DE" dirty="0">
                <a:solidFill>
                  <a:srgbClr val="1D3E4F"/>
                </a:solidFill>
              </a:rPr>
              <a:t> </a:t>
            </a:r>
            <a:r>
              <a:rPr lang="de-DE" dirty="0" err="1">
                <a:solidFill>
                  <a:srgbClr val="1D3E4F"/>
                </a:solidFill>
              </a:rPr>
              <a:t>Kazutaka</a:t>
            </a:r>
            <a:r>
              <a:rPr lang="de-DE" dirty="0">
                <a:solidFill>
                  <a:srgbClr val="1D3E4F"/>
                </a:solidFill>
              </a:rPr>
              <a:t> Sensei führt seit 2015 als 3.Großmeister das </a:t>
            </a:r>
            <a:r>
              <a:rPr lang="de-DE" dirty="0" err="1">
                <a:solidFill>
                  <a:srgbClr val="1D3E4F"/>
                </a:solidFill>
              </a:rPr>
              <a:t>Wado</a:t>
            </a:r>
            <a:r>
              <a:rPr lang="de-DE" dirty="0">
                <a:solidFill>
                  <a:srgbClr val="1D3E4F"/>
                </a:solidFill>
              </a:rPr>
              <a:t>-Ryu.</a:t>
            </a:r>
            <a:br>
              <a:rPr lang="de-DE" dirty="0">
                <a:solidFill>
                  <a:srgbClr val="1D3E4F"/>
                </a:solidFill>
              </a:rPr>
            </a:br>
            <a:br>
              <a:rPr lang="de-DE" dirty="0">
                <a:solidFill>
                  <a:srgbClr val="1D3E4F"/>
                </a:solidFill>
              </a:rPr>
            </a:br>
            <a:r>
              <a:rPr lang="de-DE" b="0" i="0" u="none" strike="noStrike" dirty="0">
                <a:solidFill>
                  <a:srgbClr val="1D3E4F"/>
                </a:solidFill>
                <a:effectLst/>
              </a:rPr>
              <a:t>Quelle: </a:t>
            </a:r>
            <a:r>
              <a:rPr lang="de-DE" b="0" i="0" u="none" strike="noStrike" dirty="0" err="1">
                <a:solidFill>
                  <a:srgbClr val="1D3E4F"/>
                </a:solidFill>
                <a:effectLst/>
              </a:rPr>
              <a:t>Wado</a:t>
            </a:r>
            <a:r>
              <a:rPr lang="de-DE" dirty="0">
                <a:solidFill>
                  <a:srgbClr val="1D3E4F"/>
                </a:solidFill>
              </a:rPr>
              <a:t>-Ryu im DKV, https://</a:t>
            </a:r>
            <a:r>
              <a:rPr lang="de-DE" dirty="0" err="1">
                <a:solidFill>
                  <a:srgbClr val="1D3E4F"/>
                </a:solidFill>
              </a:rPr>
              <a:t>www.wado-karate.de</a:t>
            </a:r>
            <a:br>
              <a:rPr lang="de-DE" dirty="0">
                <a:solidFill>
                  <a:srgbClr val="1D3E4F"/>
                </a:solidFill>
              </a:rPr>
            </a:br>
            <a:r>
              <a:rPr lang="de-DE" dirty="0">
                <a:solidFill>
                  <a:srgbClr val="1D3E4F"/>
                </a:solidFill>
              </a:rPr>
              <a:t>Weitere Info zu Karate: Deutscher Karate Verband, https://</a:t>
            </a:r>
            <a:r>
              <a:rPr lang="de-DE" dirty="0" err="1">
                <a:solidFill>
                  <a:srgbClr val="1D3E4F"/>
                </a:solidFill>
              </a:rPr>
              <a:t>www.karate.de</a:t>
            </a:r>
            <a:endParaRPr lang="de-DE" b="0" i="0" u="none" strike="noStrike" dirty="0">
              <a:solidFill>
                <a:srgbClr val="1B1B1B"/>
              </a:solidFill>
              <a:effectLst/>
            </a:endParaRPr>
          </a:p>
        </p:txBody>
      </p:sp>
      <p:grpSp>
        <p:nvGrpSpPr>
          <p:cNvPr id="5" name="Gruppieren 4">
            <a:extLst>
              <a:ext uri="{FF2B5EF4-FFF2-40B4-BE49-F238E27FC236}">
                <a16:creationId xmlns:a16="http://schemas.microsoft.com/office/drawing/2014/main" id="{CBD88997-81C2-7000-E5FB-4E88E77ED764}"/>
              </a:ext>
            </a:extLst>
          </p:cNvPr>
          <p:cNvGrpSpPr/>
          <p:nvPr/>
        </p:nvGrpSpPr>
        <p:grpSpPr>
          <a:xfrm>
            <a:off x="2507350" y="1100436"/>
            <a:ext cx="1500417" cy="1608484"/>
            <a:chOff x="2507350" y="1100436"/>
            <a:chExt cx="1500417" cy="1608484"/>
          </a:xfrm>
        </p:grpSpPr>
        <p:sp>
          <p:nvSpPr>
            <p:cNvPr id="2" name="Textfeld 1">
              <a:extLst>
                <a:ext uri="{FF2B5EF4-FFF2-40B4-BE49-F238E27FC236}">
                  <a16:creationId xmlns:a16="http://schemas.microsoft.com/office/drawing/2014/main" id="{09FB89C7-6D70-CEED-9504-2C6FC4AA76EC}"/>
                </a:ext>
              </a:extLst>
            </p:cNvPr>
            <p:cNvSpPr txBox="1"/>
            <p:nvPr/>
          </p:nvSpPr>
          <p:spPr>
            <a:xfrm>
              <a:off x="2507350" y="1100436"/>
              <a:ext cx="1500417" cy="830997"/>
            </a:xfrm>
            <a:prstGeom prst="rect">
              <a:avLst/>
            </a:prstGeom>
            <a:noFill/>
          </p:spPr>
          <p:txBody>
            <a:bodyPr wrap="square" rtlCol="0">
              <a:spAutoFit/>
            </a:bodyPr>
            <a:lstStyle/>
            <a:p>
              <a:pPr algn="ctr"/>
              <a:r>
                <a:rPr lang="de-DE" sz="2400" b="1" dirty="0"/>
                <a:t>Wadō Ryū Karate</a:t>
              </a:r>
            </a:p>
          </p:txBody>
        </p:sp>
        <p:pic>
          <p:nvPicPr>
            <p:cNvPr id="4" name="Picture 4">
              <a:extLst>
                <a:ext uri="{FF2B5EF4-FFF2-40B4-BE49-F238E27FC236}">
                  <a16:creationId xmlns:a16="http://schemas.microsoft.com/office/drawing/2014/main" id="{FB746F64-277B-F03B-544A-D34BD9FECC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479" y="1877923"/>
              <a:ext cx="1128157" cy="83099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40797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FB6BE-65E9-76DD-CBC1-5364B2CF968E}"/>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F1C6FB42-567B-8DD6-C059-1FC05C1A1375}"/>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862DC358-70EC-12ED-7FD3-46547173C83E}"/>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21D62667-1227-C80F-016B-DCA5D5E4FC56}"/>
              </a:ext>
            </a:extLst>
          </p:cNvPr>
          <p:cNvSpPr txBox="1"/>
          <p:nvPr/>
        </p:nvSpPr>
        <p:spPr>
          <a:xfrm>
            <a:off x="3886083" y="1132644"/>
            <a:ext cx="8042028" cy="5632311"/>
          </a:xfrm>
          <a:prstGeom prst="rect">
            <a:avLst/>
          </a:prstGeom>
          <a:noFill/>
        </p:spPr>
        <p:txBody>
          <a:bodyPr wrap="square" rtlCol="0">
            <a:spAutoFit/>
          </a:bodyPr>
          <a:lstStyle/>
          <a:p>
            <a:r>
              <a:rPr lang="de-DE" sz="1800" dirty="0">
                <a:effectLst/>
                <a:ea typeface="Times New Roman" panose="02020603050405020304" pitchFamily="18" charset="0"/>
              </a:rPr>
              <a:t>Das Karatetraining fördert im Wesentlichen die waffenlose Selbstverteidigung, die Selbstdisziplin, die Konzentration und Reaktion, das Selbstbewusstsein, die Ausgeglichenheit, die Körperhaltung, die Atmung, die physische u. psychische Stärke und den respektvollen Umgang.</a:t>
            </a:r>
            <a:br>
              <a:rPr lang="de-DE" sz="1800" dirty="0">
                <a:effectLst/>
                <a:ea typeface="Times New Roman" panose="02020603050405020304" pitchFamily="18" charset="0"/>
              </a:rPr>
            </a:br>
            <a:br>
              <a:rPr lang="de-DE" dirty="0">
                <a:ea typeface="Times New Roman" panose="02020603050405020304" pitchFamily="18" charset="0"/>
              </a:rPr>
            </a:br>
            <a:r>
              <a:rPr lang="de-DE" dirty="0"/>
              <a:t>Unsere Jüngsten beginnen ab 6 Jahren, die Grenze nach oben ist offen. Unser ältester Schüler ist derzeit 72 Jahre alt. Karate kann in jedem Alter gestartet, erlernt und ausgeübt werden. Die Fähigkeiten werden für jeden im Training individuell angepasst.</a:t>
            </a:r>
            <a:br>
              <a:rPr lang="de-DE" dirty="0"/>
            </a:br>
            <a:endParaRPr lang="de-DE" dirty="0"/>
          </a:p>
          <a:p>
            <a:r>
              <a:rPr lang="de-DE" sz="1800" dirty="0">
                <a:effectLst/>
                <a:ea typeface="Times New Roman" panose="02020603050405020304" pitchFamily="18" charset="0"/>
              </a:rPr>
              <a:t>Unser Trainingsangebot beinhaltet </a:t>
            </a:r>
            <a:r>
              <a:rPr lang="de-DE" dirty="0">
                <a:ea typeface="Times New Roman" panose="02020603050405020304" pitchFamily="18" charset="0"/>
              </a:rPr>
              <a:t>Trainingsgruppen </a:t>
            </a:r>
            <a:r>
              <a:rPr lang="de-DE" sz="1800" dirty="0">
                <a:effectLst/>
                <a:ea typeface="Times New Roman" panose="02020603050405020304" pitchFamily="18" charset="0"/>
              </a:rPr>
              <a:t>für Kinder ab 6 Jahre in einer </a:t>
            </a:r>
            <a:r>
              <a:rPr lang="de-DE" dirty="0">
                <a:ea typeface="Times New Roman" panose="02020603050405020304" pitchFamily="18" charset="0"/>
              </a:rPr>
              <a:t>Anfänger- und Fortgeschrittenengruppe, einer </a:t>
            </a:r>
            <a:r>
              <a:rPr lang="de-DE" dirty="0" err="1">
                <a:ea typeface="Times New Roman" panose="02020603050405020304" pitchFamily="18" charset="0"/>
              </a:rPr>
              <a:t>Jugendlichengruppe</a:t>
            </a:r>
            <a:r>
              <a:rPr lang="de-DE" dirty="0">
                <a:ea typeface="Times New Roman" panose="02020603050405020304" pitchFamily="18" charset="0"/>
              </a:rPr>
              <a:t> ab 14 Jahre und 3 Erwachsenengruppen, gemeinsam für Anfänger und Fortgeschrittene.</a:t>
            </a:r>
            <a:br>
              <a:rPr lang="de-DE" b="0" i="0" u="none" strike="noStrike" dirty="0">
                <a:solidFill>
                  <a:srgbClr val="1D3E4F"/>
                </a:solidFill>
                <a:effectLst/>
              </a:rPr>
            </a:br>
            <a:endParaRPr lang="de-DE" dirty="0">
              <a:solidFill>
                <a:srgbClr val="1D3E4F"/>
              </a:solidFill>
            </a:endParaRPr>
          </a:p>
          <a:p>
            <a:br>
              <a:rPr lang="de-DE" b="0" i="0" u="none" strike="noStrike" dirty="0">
                <a:solidFill>
                  <a:srgbClr val="1D3E4F"/>
                </a:solidFill>
                <a:effectLst/>
              </a:rPr>
            </a:br>
            <a:br>
              <a:rPr lang="de-DE" b="0" i="0" u="none" strike="noStrike" dirty="0">
                <a:solidFill>
                  <a:srgbClr val="1D3E4F"/>
                </a:solidFill>
                <a:effectLst/>
              </a:rPr>
            </a:br>
            <a:br>
              <a:rPr lang="de-DE" b="0" i="0" u="none" strike="noStrike" dirty="0">
                <a:solidFill>
                  <a:srgbClr val="1D3E4F"/>
                </a:solidFill>
                <a:effectLst/>
              </a:rPr>
            </a:br>
            <a:br>
              <a:rPr lang="de-DE" b="0" i="0" u="none" strike="noStrike" dirty="0">
                <a:solidFill>
                  <a:srgbClr val="1D3E4F"/>
                </a:solidFill>
                <a:effectLst/>
              </a:rPr>
            </a:br>
            <a:br>
              <a:rPr lang="de-DE" b="0" i="0" u="none" strike="noStrike" dirty="0">
                <a:solidFill>
                  <a:srgbClr val="1D3E4F"/>
                </a:solidFill>
                <a:effectLst/>
              </a:rPr>
            </a:br>
            <a:endParaRPr lang="de-DE" b="0" i="0" u="none" strike="noStrike" dirty="0">
              <a:solidFill>
                <a:srgbClr val="1B1B1B"/>
              </a:solidFill>
              <a:effectLst/>
            </a:endParaRPr>
          </a:p>
        </p:txBody>
      </p:sp>
      <p:grpSp>
        <p:nvGrpSpPr>
          <p:cNvPr id="5" name="Gruppieren 4">
            <a:extLst>
              <a:ext uri="{FF2B5EF4-FFF2-40B4-BE49-F238E27FC236}">
                <a16:creationId xmlns:a16="http://schemas.microsoft.com/office/drawing/2014/main" id="{15695E7D-C959-F9DB-28FE-05EAD0E48D22}"/>
              </a:ext>
            </a:extLst>
          </p:cNvPr>
          <p:cNvGrpSpPr/>
          <p:nvPr/>
        </p:nvGrpSpPr>
        <p:grpSpPr>
          <a:xfrm>
            <a:off x="2507350" y="1100436"/>
            <a:ext cx="1500417" cy="1608484"/>
            <a:chOff x="2507350" y="1100436"/>
            <a:chExt cx="1500417" cy="1608484"/>
          </a:xfrm>
        </p:grpSpPr>
        <p:sp>
          <p:nvSpPr>
            <p:cNvPr id="9" name="Textfeld 8">
              <a:extLst>
                <a:ext uri="{FF2B5EF4-FFF2-40B4-BE49-F238E27FC236}">
                  <a16:creationId xmlns:a16="http://schemas.microsoft.com/office/drawing/2014/main" id="{A378BC8D-E27B-23B7-4116-AC77510D7185}"/>
                </a:ext>
              </a:extLst>
            </p:cNvPr>
            <p:cNvSpPr txBox="1"/>
            <p:nvPr/>
          </p:nvSpPr>
          <p:spPr>
            <a:xfrm>
              <a:off x="2507350" y="1100436"/>
              <a:ext cx="1500417" cy="830997"/>
            </a:xfrm>
            <a:prstGeom prst="rect">
              <a:avLst/>
            </a:prstGeom>
            <a:noFill/>
          </p:spPr>
          <p:txBody>
            <a:bodyPr wrap="square" rtlCol="0">
              <a:spAutoFit/>
            </a:bodyPr>
            <a:lstStyle/>
            <a:p>
              <a:pPr algn="ctr"/>
              <a:r>
                <a:rPr lang="de-DE" sz="2400" b="1" dirty="0"/>
                <a:t>Wadō Ryū Karate</a:t>
              </a:r>
            </a:p>
          </p:txBody>
        </p:sp>
        <p:pic>
          <p:nvPicPr>
            <p:cNvPr id="10" name="Picture 4">
              <a:extLst>
                <a:ext uri="{FF2B5EF4-FFF2-40B4-BE49-F238E27FC236}">
                  <a16:creationId xmlns:a16="http://schemas.microsoft.com/office/drawing/2014/main" id="{87823FB0-1313-025A-3A9F-B780DA4D85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479" y="1877923"/>
              <a:ext cx="1128157" cy="83099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85973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6B3BE-1844-7E10-E80B-AE24963918C8}"/>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E96D846D-55FE-F3DE-46D5-9935233EC47C}"/>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D0831E70-CFC2-3D3D-BAF4-564956370FAB}"/>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2C68CB9B-D4DC-8AFE-8837-F630F334853E}"/>
              </a:ext>
            </a:extLst>
          </p:cNvPr>
          <p:cNvSpPr txBox="1"/>
          <p:nvPr/>
        </p:nvSpPr>
        <p:spPr>
          <a:xfrm>
            <a:off x="3714214" y="1124744"/>
            <a:ext cx="8285160" cy="5632311"/>
          </a:xfrm>
          <a:prstGeom prst="rect">
            <a:avLst/>
          </a:prstGeom>
          <a:noFill/>
        </p:spPr>
        <p:txBody>
          <a:bodyPr wrap="square" rtlCol="0">
            <a:spAutoFit/>
          </a:bodyPr>
          <a:lstStyle/>
          <a:p>
            <a:pPr algn="l"/>
            <a:r>
              <a:rPr lang="de-DE" dirty="0" err="1"/>
              <a:t>Shindō</a:t>
            </a:r>
            <a:r>
              <a:rPr lang="de-DE" dirty="0"/>
              <a:t> </a:t>
            </a:r>
            <a:r>
              <a:rPr lang="de-DE" dirty="0" err="1"/>
              <a:t>Yōshin</a:t>
            </a:r>
            <a:r>
              <a:rPr lang="de-DE" dirty="0"/>
              <a:t> </a:t>
            </a:r>
            <a:r>
              <a:rPr lang="de-DE" dirty="0" err="1"/>
              <a:t>Ryū</a:t>
            </a:r>
            <a:r>
              <a:rPr lang="de-DE" dirty="0"/>
              <a:t> (SYR) wurde von </a:t>
            </a:r>
            <a:r>
              <a:rPr lang="de-DE" dirty="0" err="1"/>
              <a:t>Katsunosuke</a:t>
            </a:r>
            <a:r>
              <a:rPr lang="de-DE" dirty="0"/>
              <a:t> Matsuoka (1836–1898) entwickelt und 1864 gegründet. SYR ist eine </a:t>
            </a:r>
            <a:r>
              <a:rPr lang="de-DE" dirty="0" err="1"/>
              <a:t>sōgō</a:t>
            </a:r>
            <a:r>
              <a:rPr lang="de-DE" dirty="0"/>
              <a:t> </a:t>
            </a:r>
            <a:r>
              <a:rPr lang="de-DE" dirty="0" err="1"/>
              <a:t>bujutsu</a:t>
            </a:r>
            <a:r>
              <a:rPr lang="de-DE" dirty="0"/>
              <a:t> bzw. ein integrierte Kampfkunst, das die Lehren der verschiedenen Schulen </a:t>
            </a:r>
            <a:r>
              <a:rPr lang="de-DE" dirty="0" err="1"/>
              <a:t>Tenjin</a:t>
            </a:r>
            <a:r>
              <a:rPr lang="de-DE" dirty="0"/>
              <a:t> </a:t>
            </a:r>
            <a:r>
              <a:rPr lang="de-DE" dirty="0" err="1"/>
              <a:t>Shinyō</a:t>
            </a:r>
            <a:r>
              <a:rPr lang="de-DE" dirty="0"/>
              <a:t> </a:t>
            </a:r>
            <a:r>
              <a:rPr lang="de-DE" dirty="0" err="1"/>
              <a:t>Ryū</a:t>
            </a:r>
            <a:r>
              <a:rPr lang="de-DE" dirty="0"/>
              <a:t>, </a:t>
            </a:r>
            <a:r>
              <a:rPr lang="de-DE" dirty="0" err="1"/>
              <a:t>Totsuka</a:t>
            </a:r>
            <a:r>
              <a:rPr lang="de-DE" dirty="0"/>
              <a:t> </a:t>
            </a:r>
            <a:r>
              <a:rPr lang="de-DE" dirty="0" err="1"/>
              <a:t>Yōshin</a:t>
            </a:r>
            <a:r>
              <a:rPr lang="de-DE" dirty="0"/>
              <a:t> </a:t>
            </a:r>
            <a:r>
              <a:rPr lang="de-DE" dirty="0" err="1"/>
              <a:t>Ryū</a:t>
            </a:r>
            <a:r>
              <a:rPr lang="de-DE" dirty="0"/>
              <a:t>, </a:t>
            </a:r>
            <a:r>
              <a:rPr lang="de-DE" dirty="0" err="1"/>
              <a:t>Jikishinkage</a:t>
            </a:r>
            <a:r>
              <a:rPr lang="de-DE" dirty="0"/>
              <a:t> </a:t>
            </a:r>
            <a:r>
              <a:rPr lang="de-DE" dirty="0" err="1"/>
              <a:t>Ryū</a:t>
            </a:r>
            <a:r>
              <a:rPr lang="de-DE" dirty="0"/>
              <a:t>, </a:t>
            </a:r>
            <a:r>
              <a:rPr lang="de-DE" dirty="0" err="1"/>
              <a:t>Hokushin</a:t>
            </a:r>
            <a:r>
              <a:rPr lang="de-DE" dirty="0"/>
              <a:t> </a:t>
            </a:r>
            <a:r>
              <a:rPr lang="de-DE" dirty="0" err="1"/>
              <a:t>Ittō</a:t>
            </a:r>
            <a:r>
              <a:rPr lang="de-DE" dirty="0"/>
              <a:t> </a:t>
            </a:r>
            <a:r>
              <a:rPr lang="de-DE" dirty="0" err="1"/>
              <a:t>Ryū</a:t>
            </a:r>
            <a:r>
              <a:rPr lang="de-DE" dirty="0"/>
              <a:t>, and </a:t>
            </a:r>
            <a:r>
              <a:rPr lang="de-DE" dirty="0" err="1"/>
              <a:t>Hozion</a:t>
            </a:r>
            <a:r>
              <a:rPr lang="de-DE" dirty="0"/>
              <a:t> </a:t>
            </a:r>
            <a:r>
              <a:rPr lang="de-DE" dirty="0" err="1"/>
              <a:t>Ryū</a:t>
            </a:r>
            <a:r>
              <a:rPr lang="de-DE" dirty="0"/>
              <a:t> kombiniert.</a:t>
            </a:r>
            <a:br>
              <a:rPr lang="de-DE" dirty="0"/>
            </a:br>
            <a:br>
              <a:rPr lang="de-DE" dirty="0"/>
            </a:br>
            <a:r>
              <a:rPr lang="de-DE" dirty="0"/>
              <a:t>SYR legt Wert auf eine ausgeklügelte Körpermechanik und natürliche Bewegung. Obwohl SYR eine Kombination aus den </a:t>
            </a:r>
            <a:r>
              <a:rPr lang="de-DE" dirty="0" err="1"/>
              <a:t>Jūjutsu</a:t>
            </a:r>
            <a:r>
              <a:rPr lang="de-DE" dirty="0"/>
              <a:t>-Lehren im </a:t>
            </a:r>
            <a:r>
              <a:rPr lang="de-DE" dirty="0" err="1"/>
              <a:t>Tenjin</a:t>
            </a:r>
            <a:r>
              <a:rPr lang="de-DE" dirty="0"/>
              <a:t> </a:t>
            </a:r>
            <a:r>
              <a:rPr lang="de-DE" dirty="0" err="1"/>
              <a:t>Shinyō</a:t>
            </a:r>
            <a:r>
              <a:rPr lang="de-DE" dirty="0"/>
              <a:t> Ryu und </a:t>
            </a:r>
            <a:r>
              <a:rPr lang="de-DE" dirty="0" err="1"/>
              <a:t>Totsuka</a:t>
            </a:r>
            <a:r>
              <a:rPr lang="de-DE" dirty="0"/>
              <a:t> </a:t>
            </a:r>
            <a:r>
              <a:rPr lang="de-DE" dirty="0" err="1"/>
              <a:t>Yōshin</a:t>
            </a:r>
            <a:r>
              <a:rPr lang="de-DE" dirty="0"/>
              <a:t> Ryu widerspiegelt, zeigt seine Technik eine sanftere, stärker von Waffen beeinflusste Ausführung der Technik. Neben der Schwertkunst, die ihren Ursprung in </a:t>
            </a:r>
            <a:r>
              <a:rPr lang="de-DE" dirty="0" err="1"/>
              <a:t>Jikishinkage</a:t>
            </a:r>
            <a:r>
              <a:rPr lang="de-DE" dirty="0"/>
              <a:t> </a:t>
            </a:r>
            <a:r>
              <a:rPr lang="de-DE" dirty="0" err="1"/>
              <a:t>Ryū</a:t>
            </a:r>
            <a:r>
              <a:rPr lang="de-DE" dirty="0"/>
              <a:t> und </a:t>
            </a:r>
            <a:r>
              <a:rPr lang="de-DE" dirty="0" err="1"/>
              <a:t>Hokushin</a:t>
            </a:r>
            <a:r>
              <a:rPr lang="de-DE" dirty="0"/>
              <a:t> </a:t>
            </a:r>
            <a:r>
              <a:rPr lang="de-DE" dirty="0" err="1"/>
              <a:t>Ittō</a:t>
            </a:r>
            <a:r>
              <a:rPr lang="de-DE" dirty="0"/>
              <a:t> </a:t>
            </a:r>
            <a:r>
              <a:rPr lang="de-DE" dirty="0" err="1"/>
              <a:t>Ryū</a:t>
            </a:r>
            <a:r>
              <a:rPr lang="de-DE" dirty="0"/>
              <a:t> hat, umfasst der </a:t>
            </a:r>
            <a:r>
              <a:rPr lang="de-DE" dirty="0" err="1"/>
              <a:t>Takamura</a:t>
            </a:r>
            <a:r>
              <a:rPr lang="de-DE" dirty="0"/>
              <a:t>-Zweig weitere Einflüsse von </a:t>
            </a:r>
            <a:r>
              <a:rPr lang="de-DE" dirty="0" err="1"/>
              <a:t>Akiyama</a:t>
            </a:r>
            <a:r>
              <a:rPr lang="de-DE" dirty="0"/>
              <a:t> </a:t>
            </a:r>
            <a:r>
              <a:rPr lang="de-DE" dirty="0" err="1"/>
              <a:t>Yōshin</a:t>
            </a:r>
            <a:r>
              <a:rPr lang="de-DE" dirty="0"/>
              <a:t> </a:t>
            </a:r>
            <a:r>
              <a:rPr lang="de-DE" dirty="0" err="1"/>
              <a:t>Ryū</a:t>
            </a:r>
            <a:r>
              <a:rPr lang="de-DE" dirty="0"/>
              <a:t> und </a:t>
            </a:r>
            <a:r>
              <a:rPr lang="de-DE" dirty="0" err="1"/>
              <a:t>Matsuzaki</a:t>
            </a:r>
            <a:r>
              <a:rPr lang="de-DE" dirty="0"/>
              <a:t> </a:t>
            </a:r>
            <a:r>
              <a:rPr lang="de-DE" dirty="0" err="1"/>
              <a:t>Shinkage-Ryū</a:t>
            </a:r>
            <a:r>
              <a:rPr lang="de-DE" dirty="0"/>
              <a:t> </a:t>
            </a:r>
            <a:r>
              <a:rPr lang="de-DE" dirty="0" err="1"/>
              <a:t>Hyōhō</a:t>
            </a:r>
            <a:r>
              <a:rPr lang="de-DE" dirty="0"/>
              <a:t>.</a:t>
            </a:r>
            <a:br>
              <a:rPr lang="de-DE" dirty="0"/>
            </a:br>
            <a:br>
              <a:rPr lang="de-DE" dirty="0"/>
            </a:br>
            <a:r>
              <a:rPr lang="de-DE" dirty="0"/>
              <a:t>SYR war maßgeblich an der Begründung eines der bekanntesten Karatestile Japans, des </a:t>
            </a:r>
            <a:r>
              <a:rPr lang="de-DE" dirty="0" err="1"/>
              <a:t>Wadō-Ryū</a:t>
            </a:r>
            <a:r>
              <a:rPr lang="de-DE" dirty="0"/>
              <a:t>, beteiligt. Der Begründer des </a:t>
            </a:r>
            <a:r>
              <a:rPr lang="de-DE" dirty="0" err="1"/>
              <a:t>Wadō-Ryū</a:t>
            </a:r>
            <a:r>
              <a:rPr lang="de-DE" dirty="0"/>
              <a:t> </a:t>
            </a:r>
            <a:r>
              <a:rPr lang="de-DE" dirty="0" err="1"/>
              <a:t>Ōtsuka</a:t>
            </a:r>
            <a:r>
              <a:rPr lang="de-DE" dirty="0"/>
              <a:t> </a:t>
            </a:r>
            <a:r>
              <a:rPr lang="de-DE" dirty="0" err="1"/>
              <a:t>Hironori</a:t>
            </a:r>
            <a:r>
              <a:rPr lang="de-DE" dirty="0"/>
              <a:t> Sensei studierte </a:t>
            </a:r>
            <a:r>
              <a:rPr lang="de-DE" dirty="0" err="1"/>
              <a:t>Shindō</a:t>
            </a:r>
            <a:r>
              <a:rPr lang="de-DE" dirty="0"/>
              <a:t> </a:t>
            </a:r>
            <a:r>
              <a:rPr lang="de-DE" dirty="0" err="1"/>
              <a:t>Yōshin</a:t>
            </a:r>
            <a:r>
              <a:rPr lang="de-DE" dirty="0"/>
              <a:t> </a:t>
            </a:r>
            <a:r>
              <a:rPr lang="de-DE" dirty="0" err="1"/>
              <a:t>Ryū</a:t>
            </a:r>
            <a:r>
              <a:rPr lang="de-DE" dirty="0"/>
              <a:t> unter einem hoch lizenzierten Lehrer namens </a:t>
            </a:r>
            <a:r>
              <a:rPr lang="de-DE" dirty="0" err="1"/>
              <a:t>Tatsusaburō</a:t>
            </a:r>
            <a:r>
              <a:rPr lang="de-DE" dirty="0"/>
              <a:t> Nakayama. Nakayama war der Hauptlehrer des </a:t>
            </a:r>
            <a:r>
              <a:rPr lang="de-DE" dirty="0" err="1"/>
              <a:t>Genbukan</a:t>
            </a:r>
            <a:r>
              <a:rPr lang="de-DE" dirty="0"/>
              <a:t> </a:t>
            </a:r>
            <a:r>
              <a:rPr lang="de-DE" dirty="0" err="1"/>
              <a:t>Dōjō</a:t>
            </a:r>
            <a:r>
              <a:rPr lang="de-DE" dirty="0"/>
              <a:t> in der Stadt </a:t>
            </a:r>
            <a:r>
              <a:rPr lang="de-DE" dirty="0" err="1"/>
              <a:t>Shimotsuma</a:t>
            </a:r>
            <a:r>
              <a:rPr lang="de-DE" dirty="0"/>
              <a:t> und Sportlehrer an der </a:t>
            </a:r>
            <a:r>
              <a:rPr lang="de-DE" dirty="0" err="1"/>
              <a:t>Shimotsuma</a:t>
            </a:r>
            <a:r>
              <a:rPr lang="de-DE" dirty="0"/>
              <a:t> Middle School.</a:t>
            </a:r>
            <a:br>
              <a:rPr lang="de-DE" dirty="0"/>
            </a:br>
            <a:br>
              <a:rPr lang="de-DE" dirty="0"/>
            </a:br>
            <a:r>
              <a:rPr lang="de-DE" dirty="0"/>
              <a:t>Quelle: eigene deutsche Übersetzung aus der offiziellen Seite der Takamura ha Shindō Yōshin Ryū, https://</a:t>
            </a:r>
            <a:r>
              <a:rPr lang="de-DE" dirty="0" err="1"/>
              <a:t>www.shinyokai.com</a:t>
            </a:r>
            <a:endParaRPr lang="de-DE" dirty="0"/>
          </a:p>
        </p:txBody>
      </p:sp>
      <p:grpSp>
        <p:nvGrpSpPr>
          <p:cNvPr id="2" name="Gruppieren 1">
            <a:extLst>
              <a:ext uri="{FF2B5EF4-FFF2-40B4-BE49-F238E27FC236}">
                <a16:creationId xmlns:a16="http://schemas.microsoft.com/office/drawing/2014/main" id="{2469E5C8-1DA9-9ECB-C380-FF2B02A38FA8}"/>
              </a:ext>
            </a:extLst>
          </p:cNvPr>
          <p:cNvGrpSpPr/>
          <p:nvPr/>
        </p:nvGrpSpPr>
        <p:grpSpPr>
          <a:xfrm>
            <a:off x="2471636" y="1052736"/>
            <a:ext cx="1498600" cy="1995520"/>
            <a:chOff x="2471636" y="1052736"/>
            <a:chExt cx="1498600" cy="1995520"/>
          </a:xfrm>
        </p:grpSpPr>
        <p:sp>
          <p:nvSpPr>
            <p:cNvPr id="8" name="Textfeld 7">
              <a:extLst>
                <a:ext uri="{FF2B5EF4-FFF2-40B4-BE49-F238E27FC236}">
                  <a16:creationId xmlns:a16="http://schemas.microsoft.com/office/drawing/2014/main" id="{AE6073C4-2279-2A19-5B41-A31B8BB15D45}"/>
                </a:ext>
              </a:extLst>
            </p:cNvPr>
            <p:cNvSpPr txBox="1"/>
            <p:nvPr/>
          </p:nvSpPr>
          <p:spPr>
            <a:xfrm>
              <a:off x="2471636" y="1052736"/>
              <a:ext cx="1498600" cy="1015663"/>
            </a:xfrm>
            <a:prstGeom prst="rect">
              <a:avLst/>
            </a:prstGeom>
            <a:noFill/>
          </p:spPr>
          <p:txBody>
            <a:bodyPr wrap="square" rtlCol="0">
              <a:spAutoFit/>
            </a:bodyPr>
            <a:lstStyle/>
            <a:p>
              <a:pPr algn="ctr"/>
              <a:r>
                <a:rPr lang="de-DE" sz="2000" b="1" dirty="0"/>
                <a:t>Takamura ha Shindo Yoshin Ryu</a:t>
              </a:r>
            </a:p>
          </p:txBody>
        </p:sp>
        <p:pic>
          <p:nvPicPr>
            <p:cNvPr id="9" name="Grafik 8">
              <a:extLst>
                <a:ext uri="{FF2B5EF4-FFF2-40B4-BE49-F238E27FC236}">
                  <a16:creationId xmlns:a16="http://schemas.microsoft.com/office/drawing/2014/main" id="{2D28FB60-48DE-87AC-42B6-006697616FE2}"/>
                </a:ext>
              </a:extLst>
            </p:cNvPr>
            <p:cNvPicPr>
              <a:picLocks noChangeAspect="1"/>
            </p:cNvPicPr>
            <p:nvPr/>
          </p:nvPicPr>
          <p:blipFill>
            <a:blip r:embed="rId3"/>
            <a:stretch>
              <a:fillRect/>
            </a:stretch>
          </p:blipFill>
          <p:spPr>
            <a:xfrm>
              <a:off x="2725982" y="2068399"/>
              <a:ext cx="988232" cy="979857"/>
            </a:xfrm>
            <a:prstGeom prst="rect">
              <a:avLst/>
            </a:prstGeom>
          </p:spPr>
        </p:pic>
      </p:grpSp>
    </p:spTree>
    <p:extLst>
      <p:ext uri="{BB962C8B-B14F-4D97-AF65-F5344CB8AC3E}">
        <p14:creationId xmlns:p14="http://schemas.microsoft.com/office/powerpoint/2010/main" val="119952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C3487-D0CB-F74C-619C-91F664E26B2B}"/>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9E57F002-6108-D524-58B3-86CBDA77CD0F}"/>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039DDCD7-1412-9964-3889-FE32A3E2A672}"/>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51065E8-20D4-78CF-38FE-F3BA16C76B13}"/>
              </a:ext>
            </a:extLst>
          </p:cNvPr>
          <p:cNvSpPr txBox="1"/>
          <p:nvPr/>
        </p:nvSpPr>
        <p:spPr>
          <a:xfrm>
            <a:off x="3742604" y="1052736"/>
            <a:ext cx="8042028" cy="5078313"/>
          </a:xfrm>
          <a:prstGeom prst="rect">
            <a:avLst/>
          </a:prstGeom>
          <a:noFill/>
        </p:spPr>
        <p:txBody>
          <a:bodyPr wrap="square" rtlCol="0">
            <a:spAutoFit/>
          </a:bodyPr>
          <a:lstStyle/>
          <a:p>
            <a:pPr algn="l"/>
            <a:r>
              <a:rPr lang="de-DE" sz="1800" dirty="0">
                <a:effectLst/>
                <a:ea typeface="Times New Roman" panose="02020603050405020304" pitchFamily="18" charset="0"/>
              </a:rPr>
              <a:t>Im SYR gibt es weltweit </a:t>
            </a:r>
            <a:r>
              <a:rPr lang="de-DE" dirty="0">
                <a:ea typeface="Times New Roman" panose="02020603050405020304" pitchFamily="18" charset="0"/>
              </a:rPr>
              <a:t>nur noch eine Familienlinie, die das SYR allumfassend nach dem Lehrplan der japanischen Kriegerklasse der Samurai lehrt. Diese Linie heißt </a:t>
            </a:r>
            <a:r>
              <a:rPr lang="de-DE" dirty="0" err="1">
                <a:ea typeface="Times New Roman" panose="02020603050405020304" pitchFamily="18" charset="0"/>
              </a:rPr>
              <a:t>Takamura</a:t>
            </a:r>
            <a:r>
              <a:rPr lang="de-DE" dirty="0">
                <a:ea typeface="Times New Roman" panose="02020603050405020304" pitchFamily="18" charset="0"/>
              </a:rPr>
              <a:t> ha </a:t>
            </a:r>
            <a:r>
              <a:rPr lang="de-DE" dirty="0" err="1">
                <a:ea typeface="Times New Roman" panose="02020603050405020304" pitchFamily="18" charset="0"/>
              </a:rPr>
              <a:t>Shindo</a:t>
            </a:r>
            <a:r>
              <a:rPr lang="de-DE" dirty="0">
                <a:ea typeface="Times New Roman" panose="02020603050405020304" pitchFamily="18" charset="0"/>
              </a:rPr>
              <a:t> </a:t>
            </a:r>
            <a:r>
              <a:rPr lang="de-DE" dirty="0" err="1">
                <a:ea typeface="Times New Roman" panose="02020603050405020304" pitchFamily="18" charset="0"/>
              </a:rPr>
              <a:t>Yoshin</a:t>
            </a:r>
            <a:r>
              <a:rPr lang="de-DE" dirty="0">
                <a:ea typeface="Times New Roman" panose="02020603050405020304" pitchFamily="18" charset="0"/>
              </a:rPr>
              <a:t> Ryu (TSYR) und wurde von dem in 2000 verstorbenen Japaner </a:t>
            </a:r>
            <a:r>
              <a:rPr lang="de-DE" dirty="0" err="1">
                <a:ea typeface="Times New Roman" panose="02020603050405020304" pitchFamily="18" charset="0"/>
              </a:rPr>
              <a:t>Yukiyoshi</a:t>
            </a:r>
            <a:r>
              <a:rPr lang="de-DE" dirty="0">
                <a:ea typeface="Times New Roman" panose="02020603050405020304" pitchFamily="18" charset="0"/>
              </a:rPr>
              <a:t> </a:t>
            </a:r>
            <a:r>
              <a:rPr lang="de-DE" dirty="0" err="1">
                <a:ea typeface="Times New Roman" panose="02020603050405020304" pitchFamily="18" charset="0"/>
              </a:rPr>
              <a:t>Takamura</a:t>
            </a:r>
            <a:r>
              <a:rPr lang="de-DE" dirty="0">
                <a:ea typeface="Times New Roman" panose="02020603050405020304" pitchFamily="18" charset="0"/>
              </a:rPr>
              <a:t> (1928-2000) gegründet. Der Amerikaner Tobin E. </a:t>
            </a:r>
            <a:r>
              <a:rPr lang="de-DE" dirty="0" err="1">
                <a:ea typeface="Times New Roman" panose="02020603050405020304" pitchFamily="18" charset="0"/>
              </a:rPr>
              <a:t>Threadgill</a:t>
            </a:r>
            <a:r>
              <a:rPr lang="de-DE" dirty="0">
                <a:ea typeface="Times New Roman" panose="02020603050405020304" pitchFamily="18" charset="0"/>
              </a:rPr>
              <a:t> leitet nach </a:t>
            </a:r>
            <a:r>
              <a:rPr lang="de-DE" dirty="0" err="1">
                <a:ea typeface="Times New Roman" panose="02020603050405020304" pitchFamily="18" charset="0"/>
              </a:rPr>
              <a:t>Takamura</a:t>
            </a:r>
            <a:r>
              <a:rPr lang="de-DE" dirty="0">
                <a:ea typeface="Times New Roman" panose="02020603050405020304" pitchFamily="18" charset="0"/>
              </a:rPr>
              <a:t> </a:t>
            </a:r>
            <a:r>
              <a:rPr lang="de-DE" dirty="0" err="1">
                <a:ea typeface="Times New Roman" panose="02020603050405020304" pitchFamily="18" charset="0"/>
              </a:rPr>
              <a:t>Senseis</a:t>
            </a:r>
            <a:r>
              <a:rPr lang="de-DE" dirty="0">
                <a:ea typeface="Times New Roman" panose="02020603050405020304" pitchFamily="18" charset="0"/>
              </a:rPr>
              <a:t> Tod seit 2003 die TSYR und lehrt die Kampfkunst weltweit. Es gibt TSYR </a:t>
            </a:r>
            <a:r>
              <a:rPr lang="de-DE" dirty="0" err="1">
                <a:ea typeface="Times New Roman" panose="02020603050405020304" pitchFamily="18" charset="0"/>
              </a:rPr>
              <a:t>Dōjōs</a:t>
            </a:r>
            <a:r>
              <a:rPr lang="de-DE" dirty="0">
                <a:ea typeface="Times New Roman" panose="02020603050405020304" pitchFamily="18" charset="0"/>
              </a:rPr>
              <a:t> in USA, Kanada, Neuseeland, Australien, Deutschland, Portugal, Spanien, Frankreich, Finnland, Niederlande und Italien und wird von ca. 250 Budoka trainiert.</a:t>
            </a:r>
            <a:br>
              <a:rPr lang="de-DE" dirty="0">
                <a:ea typeface="Times New Roman" panose="02020603050405020304" pitchFamily="18" charset="0"/>
              </a:rPr>
            </a:br>
            <a:br>
              <a:rPr lang="de-DE" dirty="0">
                <a:ea typeface="Times New Roman" panose="02020603050405020304" pitchFamily="18" charset="0"/>
              </a:rPr>
            </a:br>
            <a:r>
              <a:rPr lang="de-DE" dirty="0">
                <a:ea typeface="Times New Roman" panose="02020603050405020304" pitchFamily="18" charset="0"/>
              </a:rPr>
              <a:t>Im TSYR gibt es 3 Lehrplanstufen. Diese sind </a:t>
            </a:r>
            <a:r>
              <a:rPr lang="de-DE" dirty="0" err="1">
                <a:ea typeface="Times New Roman" panose="02020603050405020304" pitchFamily="18" charset="0"/>
              </a:rPr>
              <a:t>Shoden</a:t>
            </a:r>
            <a:r>
              <a:rPr lang="de-DE" dirty="0">
                <a:ea typeface="Times New Roman" panose="02020603050405020304" pitchFamily="18" charset="0"/>
              </a:rPr>
              <a:t> (untere Stufe), </a:t>
            </a:r>
            <a:r>
              <a:rPr lang="de-DE" dirty="0" err="1">
                <a:ea typeface="Times New Roman" panose="02020603050405020304" pitchFamily="18" charset="0"/>
              </a:rPr>
              <a:t>Chuden</a:t>
            </a:r>
            <a:r>
              <a:rPr lang="de-DE" dirty="0">
                <a:ea typeface="Times New Roman" panose="02020603050405020304" pitchFamily="18" charset="0"/>
              </a:rPr>
              <a:t> (mittlere Stufe) und </a:t>
            </a:r>
            <a:r>
              <a:rPr lang="de-DE" dirty="0" err="1">
                <a:ea typeface="Times New Roman" panose="02020603050405020304" pitchFamily="18" charset="0"/>
              </a:rPr>
              <a:t>Joden</a:t>
            </a:r>
            <a:r>
              <a:rPr lang="de-DE" dirty="0">
                <a:ea typeface="Times New Roman" panose="02020603050405020304" pitchFamily="18" charset="0"/>
              </a:rPr>
              <a:t> (obere Stufe). Zu jeder Stufe kann die dazugehörige Lehrlizenz erworben werden.</a:t>
            </a:r>
            <a:br>
              <a:rPr lang="de-DE" dirty="0">
                <a:ea typeface="Times New Roman" panose="02020603050405020304" pitchFamily="18" charset="0"/>
              </a:rPr>
            </a:br>
            <a:endParaRPr lang="de-DE" sz="1800" dirty="0">
              <a:effectLst/>
              <a:ea typeface="Times New Roman" panose="02020603050405020304" pitchFamily="18" charset="0"/>
            </a:endParaRPr>
          </a:p>
          <a:p>
            <a:pPr algn="l"/>
            <a:r>
              <a:rPr lang="de-DE" sz="1800" dirty="0">
                <a:effectLst/>
                <a:ea typeface="Times New Roman" panose="02020603050405020304" pitchFamily="18" charset="0"/>
              </a:rPr>
              <a:t>Aufgrund des sehr umfangreichen Lehrinhaltes </a:t>
            </a:r>
            <a:r>
              <a:rPr lang="de-DE" dirty="0">
                <a:ea typeface="Times New Roman" panose="02020603050405020304" pitchFamily="18" charset="0"/>
              </a:rPr>
              <a:t>des </a:t>
            </a:r>
            <a:r>
              <a:rPr lang="de-DE" dirty="0" err="1">
                <a:ea typeface="Times New Roman" panose="02020603050405020304" pitchFamily="18" charset="0"/>
              </a:rPr>
              <a:t>Tai</a:t>
            </a:r>
            <a:r>
              <a:rPr lang="de-DE" sz="1800" dirty="0" err="1">
                <a:effectLst/>
                <a:ea typeface="Times New Roman" panose="02020603050405020304" pitchFamily="18" charset="0"/>
              </a:rPr>
              <a:t>jutsu</a:t>
            </a:r>
            <a:r>
              <a:rPr lang="de-DE" sz="1800" dirty="0">
                <a:effectLst/>
                <a:ea typeface="Times New Roman" panose="02020603050405020304" pitchFamily="18" charset="0"/>
              </a:rPr>
              <a:t> auch mit verschiedenen Waffen, u.a. </a:t>
            </a:r>
            <a:r>
              <a:rPr lang="de-DE" sz="1800" dirty="0" err="1">
                <a:effectLst/>
                <a:ea typeface="Times New Roman" panose="02020603050405020304" pitchFamily="18" charset="0"/>
              </a:rPr>
              <a:t>Kenjutsu</a:t>
            </a:r>
            <a:r>
              <a:rPr lang="de-DE" sz="1800" dirty="0">
                <a:effectLst/>
                <a:ea typeface="Times New Roman" panose="02020603050405020304" pitchFamily="18" charset="0"/>
              </a:rPr>
              <a:t> (Schwert) und </a:t>
            </a:r>
            <a:r>
              <a:rPr lang="de-DE" sz="1800" dirty="0" err="1">
                <a:effectLst/>
                <a:ea typeface="Times New Roman" panose="02020603050405020304" pitchFamily="18" charset="0"/>
              </a:rPr>
              <a:t>Tantojutsu</a:t>
            </a:r>
            <a:r>
              <a:rPr lang="de-DE" sz="1800" dirty="0">
                <a:effectLst/>
                <a:ea typeface="Times New Roman" panose="02020603050405020304" pitchFamily="18" charset="0"/>
              </a:rPr>
              <a:t> (Messer) und des damit verbundenen Trainingsaufwandes ist </a:t>
            </a:r>
            <a:r>
              <a:rPr lang="de-DE" dirty="0">
                <a:ea typeface="Times New Roman" panose="02020603050405020304" pitchFamily="18" charset="0"/>
              </a:rPr>
              <a:t>das T</a:t>
            </a:r>
            <a:r>
              <a:rPr lang="de-DE" sz="1800" dirty="0">
                <a:effectLst/>
                <a:ea typeface="Times New Roman" panose="02020603050405020304" pitchFamily="18" charset="0"/>
              </a:rPr>
              <a:t>rainingsangebot </a:t>
            </a:r>
            <a:r>
              <a:rPr lang="de-DE" dirty="0">
                <a:ea typeface="Times New Roman" panose="02020603050405020304" pitchFamily="18" charset="0"/>
              </a:rPr>
              <a:t>hauptsächlich </a:t>
            </a:r>
            <a:r>
              <a:rPr lang="de-DE" sz="1800" dirty="0">
                <a:effectLst/>
                <a:ea typeface="Times New Roman" panose="02020603050405020304" pitchFamily="18" charset="0"/>
              </a:rPr>
              <a:t>für Erwachsene geeignet. Ein Angebot für Jugendliche </a:t>
            </a:r>
            <a:r>
              <a:rPr lang="de-DE" dirty="0">
                <a:ea typeface="Times New Roman" panose="02020603050405020304" pitchFamily="18" charset="0"/>
              </a:rPr>
              <a:t>ab 17 Jahre ist nach Reife und Fähigkeit </a:t>
            </a:r>
            <a:r>
              <a:rPr lang="de-DE" sz="1800" dirty="0">
                <a:effectLst/>
                <a:ea typeface="Times New Roman" panose="02020603050405020304" pitchFamily="18" charset="0"/>
              </a:rPr>
              <a:t>in Absprache mit dem </a:t>
            </a:r>
            <a:r>
              <a:rPr lang="de-DE" sz="1800" dirty="0" err="1">
                <a:effectLst/>
                <a:ea typeface="Times New Roman" panose="02020603050405020304" pitchFamily="18" charset="0"/>
              </a:rPr>
              <a:t>Dōjōleiter</a:t>
            </a:r>
            <a:r>
              <a:rPr lang="de-DE" sz="1800" dirty="0">
                <a:effectLst/>
                <a:ea typeface="Times New Roman" panose="02020603050405020304" pitchFamily="18" charset="0"/>
              </a:rPr>
              <a:t> jedoch möglich.</a:t>
            </a:r>
          </a:p>
        </p:txBody>
      </p:sp>
      <p:grpSp>
        <p:nvGrpSpPr>
          <p:cNvPr id="2" name="Gruppieren 1">
            <a:extLst>
              <a:ext uri="{FF2B5EF4-FFF2-40B4-BE49-F238E27FC236}">
                <a16:creationId xmlns:a16="http://schemas.microsoft.com/office/drawing/2014/main" id="{2A6C317D-B78A-4861-E4EE-EEA020418C99}"/>
              </a:ext>
            </a:extLst>
          </p:cNvPr>
          <p:cNvGrpSpPr/>
          <p:nvPr/>
        </p:nvGrpSpPr>
        <p:grpSpPr>
          <a:xfrm>
            <a:off x="2471636" y="1052736"/>
            <a:ext cx="1498600" cy="1995520"/>
            <a:chOff x="2471636" y="1052736"/>
            <a:chExt cx="1498600" cy="1995520"/>
          </a:xfrm>
        </p:grpSpPr>
        <p:sp>
          <p:nvSpPr>
            <p:cNvPr id="7" name="Textfeld 6">
              <a:extLst>
                <a:ext uri="{FF2B5EF4-FFF2-40B4-BE49-F238E27FC236}">
                  <a16:creationId xmlns:a16="http://schemas.microsoft.com/office/drawing/2014/main" id="{22F9D7F7-82D1-5559-1CC8-1C6CA9F1A26D}"/>
                </a:ext>
              </a:extLst>
            </p:cNvPr>
            <p:cNvSpPr txBox="1"/>
            <p:nvPr/>
          </p:nvSpPr>
          <p:spPr>
            <a:xfrm>
              <a:off x="2471636" y="1052736"/>
              <a:ext cx="1498600" cy="1015663"/>
            </a:xfrm>
            <a:prstGeom prst="rect">
              <a:avLst/>
            </a:prstGeom>
            <a:noFill/>
          </p:spPr>
          <p:txBody>
            <a:bodyPr wrap="square" rtlCol="0">
              <a:spAutoFit/>
            </a:bodyPr>
            <a:lstStyle/>
            <a:p>
              <a:pPr algn="ctr"/>
              <a:r>
                <a:rPr lang="de-DE" sz="2000" b="1" dirty="0"/>
                <a:t>Takamura ha Shindo Yoshin Ryu</a:t>
              </a:r>
            </a:p>
          </p:txBody>
        </p:sp>
        <p:pic>
          <p:nvPicPr>
            <p:cNvPr id="8" name="Grafik 7">
              <a:extLst>
                <a:ext uri="{FF2B5EF4-FFF2-40B4-BE49-F238E27FC236}">
                  <a16:creationId xmlns:a16="http://schemas.microsoft.com/office/drawing/2014/main" id="{3EC7FD46-3B7A-8863-16DB-DE84E81FF29C}"/>
                </a:ext>
              </a:extLst>
            </p:cNvPr>
            <p:cNvPicPr>
              <a:picLocks noChangeAspect="1"/>
            </p:cNvPicPr>
            <p:nvPr/>
          </p:nvPicPr>
          <p:blipFill>
            <a:blip r:embed="rId3"/>
            <a:stretch>
              <a:fillRect/>
            </a:stretch>
          </p:blipFill>
          <p:spPr>
            <a:xfrm>
              <a:off x="2725982" y="2068399"/>
              <a:ext cx="988232" cy="979857"/>
            </a:xfrm>
            <a:prstGeom prst="rect">
              <a:avLst/>
            </a:prstGeom>
          </p:spPr>
        </p:pic>
      </p:grpSp>
    </p:spTree>
    <p:extLst>
      <p:ext uri="{BB962C8B-B14F-4D97-AF65-F5344CB8AC3E}">
        <p14:creationId xmlns:p14="http://schemas.microsoft.com/office/powerpoint/2010/main" val="487933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59630-A0F1-959C-16B8-1B3E196B424C}"/>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AA7850D5-6E58-C6C8-DA2F-DCB37F3697F4}"/>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72B80A6B-FBB9-EAE2-EF28-C5CD06048F0D}"/>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29D56849-41FF-1B79-7BED-71D56268237F}"/>
              </a:ext>
            </a:extLst>
          </p:cNvPr>
          <p:cNvSpPr txBox="1"/>
          <p:nvPr/>
        </p:nvSpPr>
        <p:spPr>
          <a:xfrm>
            <a:off x="3814372" y="1078268"/>
            <a:ext cx="8285160" cy="4943020"/>
          </a:xfrm>
          <a:prstGeom prst="rect">
            <a:avLst/>
          </a:prstGeom>
          <a:noFill/>
        </p:spPr>
        <p:txBody>
          <a:bodyPr wrap="square" rtlCol="0">
            <a:spAutoFit/>
          </a:bodyPr>
          <a:lstStyle/>
          <a:p>
            <a:pPr algn="l" fontAlgn="base">
              <a:lnSpc>
                <a:spcPts val="1800"/>
              </a:lnSpc>
              <a:spcAft>
                <a:spcPts val="1125"/>
              </a:spcAft>
            </a:pPr>
            <a:r>
              <a:rPr lang="de-DE" dirty="0"/>
              <a:t>Taiji umfasst ein umfangreiches System von Kampfkunst und Selbstverteidigung, Gesundheitstraining und mentalen Übungen. Speziell Körperwahrnehmung, bewusstes Erkennen und Loslassen von Verspannungen sowie Koordination sind wichtige Trainingsbestandteile, die direkt in das Alltagsleben übertragbar sind. Die langsamen, fließenden Bewegungen ermöglichen ein feinfühliges Erkennen und Korrigieren ungünstiger Haltungs- und Bewegungsmuster. Die Partnerübungen geben dabei wertvolles Feedback über die Fortschritte des Übenden, auch wenn dieser kein Interesse an der Anwendung in Kampfkunst oder Selbstverteidigung hat. </a:t>
            </a:r>
            <a:br>
              <a:rPr lang="de-DE" dirty="0"/>
            </a:br>
            <a:br>
              <a:rPr lang="de-DE" dirty="0"/>
            </a:br>
            <a:r>
              <a:rPr lang="de-DE" dirty="0"/>
              <a:t>Das weite Feld der Übungsmöglichkeiten von meditativen, entspannenden Übungen bis zu körperlich und mental anstrengendem Solo-, Partner- und Selbstverteidigungstraining bietet jedem Übenden die Anpassung  des Trainings an individuelle Bedürfnisse, Voraussetzungen und Zielsetzungen. Dies gilt für alle Altersgruppen.</a:t>
            </a:r>
            <a:br>
              <a:rPr lang="de-DE" dirty="0"/>
            </a:br>
            <a:br>
              <a:rPr lang="de-DE" dirty="0"/>
            </a:br>
            <a:r>
              <a:rPr lang="de-DE" dirty="0"/>
              <a:t>Wie die meisten Kampfkünste existieren auch im Taiji </a:t>
            </a:r>
            <a:r>
              <a:rPr lang="de-DE" dirty="0" err="1"/>
              <a:t>veschiedene</a:t>
            </a:r>
            <a:r>
              <a:rPr lang="de-DE" dirty="0"/>
              <a:t> Stilrichtungen, die sich auf chinesische Familienstile beziehen. Äußerlich unterscheiden sie sich zum Teil sehr deutlich, gemeinsam berufen sie sich auf auf grundlegende Prinzipien taoistischer Philosophie. Etliche Bestandteile dieser Lehren sind inzwischen auch in Europa bekannt, teilweise sogar zu modernen Schlagworten geworden, z.B. „Yin &amp; Yang“, „</a:t>
            </a:r>
            <a:r>
              <a:rPr lang="de-DE" dirty="0" err="1"/>
              <a:t>Wuwei</a:t>
            </a:r>
            <a:r>
              <a:rPr lang="de-DE" dirty="0"/>
              <a:t>“, „Chi“ oder auch „Achtsamkeit“. </a:t>
            </a:r>
          </a:p>
        </p:txBody>
      </p:sp>
      <p:sp>
        <p:nvSpPr>
          <p:cNvPr id="8" name="Textfeld 7">
            <a:extLst>
              <a:ext uri="{FF2B5EF4-FFF2-40B4-BE49-F238E27FC236}">
                <a16:creationId xmlns:a16="http://schemas.microsoft.com/office/drawing/2014/main" id="{A41E93B2-8937-3B18-ABDD-44E0584274A9}"/>
              </a:ext>
            </a:extLst>
          </p:cNvPr>
          <p:cNvSpPr txBox="1"/>
          <p:nvPr/>
        </p:nvSpPr>
        <p:spPr>
          <a:xfrm>
            <a:off x="2390187" y="990790"/>
            <a:ext cx="1498600" cy="461665"/>
          </a:xfrm>
          <a:prstGeom prst="rect">
            <a:avLst/>
          </a:prstGeom>
          <a:noFill/>
        </p:spPr>
        <p:txBody>
          <a:bodyPr wrap="square" rtlCol="0">
            <a:spAutoFit/>
          </a:bodyPr>
          <a:lstStyle/>
          <a:p>
            <a:pPr algn="ctr"/>
            <a:r>
              <a:rPr lang="de-DE" sz="2400" b="1" dirty="0"/>
              <a:t>Taiji</a:t>
            </a:r>
          </a:p>
        </p:txBody>
      </p:sp>
      <p:pic>
        <p:nvPicPr>
          <p:cNvPr id="2" name="Grafik 1">
            <a:extLst>
              <a:ext uri="{FF2B5EF4-FFF2-40B4-BE49-F238E27FC236}">
                <a16:creationId xmlns:a16="http://schemas.microsoft.com/office/drawing/2014/main" id="{1E4498BD-05D1-931B-99FC-9A862442B82B}"/>
              </a:ext>
            </a:extLst>
          </p:cNvPr>
          <p:cNvPicPr>
            <a:picLocks noChangeAspect="1"/>
          </p:cNvPicPr>
          <p:nvPr/>
        </p:nvPicPr>
        <p:blipFill>
          <a:blip r:embed="rId3"/>
          <a:stretch>
            <a:fillRect/>
          </a:stretch>
        </p:blipFill>
        <p:spPr>
          <a:xfrm>
            <a:off x="2670505" y="1452455"/>
            <a:ext cx="1036454" cy="775625"/>
          </a:xfrm>
          <a:prstGeom prst="rect">
            <a:avLst/>
          </a:prstGeom>
        </p:spPr>
      </p:pic>
    </p:spTree>
    <p:extLst>
      <p:ext uri="{BB962C8B-B14F-4D97-AF65-F5344CB8AC3E}">
        <p14:creationId xmlns:p14="http://schemas.microsoft.com/office/powerpoint/2010/main" val="4245941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1ADFE-ECBD-6A08-CB8C-2185D7089870}"/>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62C15186-71AC-72C9-2BAF-5FF3371CF487}"/>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25EB7DA1-D277-6CC0-55D8-2A3BEA843E87}"/>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3B45F7C2-7EE8-039D-AF68-3046DD3C0F0C}"/>
              </a:ext>
            </a:extLst>
          </p:cNvPr>
          <p:cNvSpPr txBox="1"/>
          <p:nvPr/>
        </p:nvSpPr>
        <p:spPr>
          <a:xfrm>
            <a:off x="3814372" y="1124744"/>
            <a:ext cx="8321528" cy="5273238"/>
          </a:xfrm>
          <a:prstGeom prst="rect">
            <a:avLst/>
          </a:prstGeom>
          <a:noFill/>
        </p:spPr>
        <p:txBody>
          <a:bodyPr wrap="square" rtlCol="0">
            <a:spAutoFit/>
          </a:bodyPr>
          <a:lstStyle/>
          <a:p>
            <a:pPr algn="l" fontAlgn="base">
              <a:lnSpc>
                <a:spcPts val="1800"/>
              </a:lnSpc>
              <a:spcAft>
                <a:spcPts val="1125"/>
              </a:spcAft>
            </a:pPr>
            <a:r>
              <a:rPr lang="de-DE" dirty="0"/>
              <a:t>In unserem Unterricht beziehen wir uns auf das „Chen Taiji“ – eigentlich müsste man sagen „EIN Chen Taiji“, da es selbst innerhalb des Chen-Stils etliche Varianten gibt, die sich mehr oder weniger stark unterscheiden.  </a:t>
            </a:r>
          </a:p>
          <a:p>
            <a:pPr algn="l" fontAlgn="base">
              <a:lnSpc>
                <a:spcPts val="1800"/>
              </a:lnSpc>
              <a:spcAft>
                <a:spcPts val="1125"/>
              </a:spcAft>
            </a:pPr>
            <a:r>
              <a:rPr lang="de-DE" dirty="0"/>
              <a:t>Unsere zentralen Trainingsinhalte: </a:t>
            </a:r>
          </a:p>
          <a:p>
            <a:pPr algn="l" fontAlgn="base">
              <a:lnSpc>
                <a:spcPts val="1800"/>
              </a:lnSpc>
              <a:spcAft>
                <a:spcPts val="1125"/>
              </a:spcAft>
            </a:pPr>
            <a:r>
              <a:rPr lang="de-DE" dirty="0"/>
              <a:t>- Chen Taiji Formen (Bewegungsfolgen </a:t>
            </a:r>
            <a:r>
              <a:rPr lang="de-DE" dirty="0" err="1"/>
              <a:t>unterschiedl</a:t>
            </a:r>
            <a:r>
              <a:rPr lang="de-DE" dirty="0"/>
              <a:t>. Länge) überwiegend ohne</a:t>
            </a:r>
            <a:br>
              <a:rPr lang="de-DE" dirty="0"/>
            </a:br>
            <a:r>
              <a:rPr lang="de-DE" dirty="0"/>
              <a:t>  Übungswaffen, für Fortgeschrittene aber auch mit Übungswaffen</a:t>
            </a:r>
            <a:br>
              <a:rPr lang="de-DE" dirty="0"/>
            </a:br>
            <a:r>
              <a:rPr lang="de-DE" dirty="0"/>
              <a:t>- Seidenfadenübungen (</a:t>
            </a:r>
            <a:r>
              <a:rPr lang="de-DE" dirty="0" err="1"/>
              <a:t>Chansi</a:t>
            </a:r>
            <a:r>
              <a:rPr lang="de-DE" dirty="0"/>
              <a:t> Gong)</a:t>
            </a:r>
            <a:br>
              <a:rPr lang="de-DE" dirty="0"/>
            </a:br>
            <a:r>
              <a:rPr lang="de-DE" dirty="0"/>
              <a:t>- Partnerübungen</a:t>
            </a:r>
            <a:br>
              <a:rPr lang="de-DE" dirty="0"/>
            </a:br>
            <a:r>
              <a:rPr lang="de-DE" dirty="0"/>
              <a:t>- </a:t>
            </a:r>
            <a:r>
              <a:rPr lang="de-DE" dirty="0" err="1"/>
              <a:t>Tuishou</a:t>
            </a:r>
            <a:r>
              <a:rPr lang="de-DE" dirty="0"/>
              <a:t> (schiebende </a:t>
            </a:r>
            <a:r>
              <a:rPr lang="de-DE" dirty="0" err="1"/>
              <a:t>Händer</a:t>
            </a:r>
            <a:r>
              <a:rPr lang="de-DE" dirty="0"/>
              <a:t>)</a:t>
            </a:r>
            <a:br>
              <a:rPr lang="de-DE" dirty="0"/>
            </a:br>
            <a:r>
              <a:rPr lang="de-DE" dirty="0"/>
              <a:t>- Meditationsübungen</a:t>
            </a:r>
            <a:br>
              <a:rPr lang="de-DE" dirty="0"/>
            </a:br>
            <a:r>
              <a:rPr lang="de-DE" dirty="0"/>
              <a:t>- Theoretische Grundlagen</a:t>
            </a:r>
          </a:p>
          <a:p>
            <a:pPr algn="l" fontAlgn="base">
              <a:lnSpc>
                <a:spcPts val="1800"/>
              </a:lnSpc>
              <a:spcAft>
                <a:spcPts val="1125"/>
              </a:spcAft>
            </a:pPr>
            <a:r>
              <a:rPr lang="de-DE" dirty="0">
                <a:ea typeface="Times New Roman" panose="02020603050405020304" pitchFamily="18" charset="0"/>
              </a:rPr>
              <a:t>Wir haben nur Erwachsenentrainingsgruppen für Anfänger und Fortgeschrittene. Die Altersspanne unserer Taiji-Trainierenden liegt zwischen den 20iger und 80iger Jahren und umfasst alle Geschlechter.</a:t>
            </a:r>
            <a:endParaRPr lang="de-DE" b="0" i="0" u="none" strike="noStrike" dirty="0">
              <a:effectLst/>
            </a:endParaRPr>
          </a:p>
          <a:p>
            <a:pPr algn="l"/>
            <a:br>
              <a:rPr lang="de-DE" dirty="0"/>
            </a:br>
            <a:br>
              <a:rPr lang="de-DE" dirty="0"/>
            </a:br>
            <a:br>
              <a:rPr lang="de-DE" dirty="0"/>
            </a:br>
            <a:br>
              <a:rPr lang="de-DE" dirty="0"/>
            </a:br>
            <a:endParaRPr lang="de-DE" dirty="0"/>
          </a:p>
        </p:txBody>
      </p:sp>
      <p:sp>
        <p:nvSpPr>
          <p:cNvPr id="8" name="Textfeld 7">
            <a:extLst>
              <a:ext uri="{FF2B5EF4-FFF2-40B4-BE49-F238E27FC236}">
                <a16:creationId xmlns:a16="http://schemas.microsoft.com/office/drawing/2014/main" id="{9DE7E8D9-3A08-B95C-A2FC-C7923B2B2DE3}"/>
              </a:ext>
            </a:extLst>
          </p:cNvPr>
          <p:cNvSpPr txBox="1"/>
          <p:nvPr/>
        </p:nvSpPr>
        <p:spPr>
          <a:xfrm>
            <a:off x="2390187" y="990790"/>
            <a:ext cx="1498600" cy="461665"/>
          </a:xfrm>
          <a:prstGeom prst="rect">
            <a:avLst/>
          </a:prstGeom>
          <a:noFill/>
        </p:spPr>
        <p:txBody>
          <a:bodyPr wrap="square" rtlCol="0">
            <a:spAutoFit/>
          </a:bodyPr>
          <a:lstStyle/>
          <a:p>
            <a:pPr algn="ctr"/>
            <a:r>
              <a:rPr lang="de-DE" sz="2400" b="1" dirty="0"/>
              <a:t>Taiji</a:t>
            </a:r>
          </a:p>
        </p:txBody>
      </p:sp>
      <p:pic>
        <p:nvPicPr>
          <p:cNvPr id="2" name="Grafik 1">
            <a:extLst>
              <a:ext uri="{FF2B5EF4-FFF2-40B4-BE49-F238E27FC236}">
                <a16:creationId xmlns:a16="http://schemas.microsoft.com/office/drawing/2014/main" id="{ADA42DA5-E31B-6105-F422-357696744FB1}"/>
              </a:ext>
            </a:extLst>
          </p:cNvPr>
          <p:cNvPicPr>
            <a:picLocks noChangeAspect="1"/>
          </p:cNvPicPr>
          <p:nvPr/>
        </p:nvPicPr>
        <p:blipFill>
          <a:blip r:embed="rId3"/>
          <a:stretch>
            <a:fillRect/>
          </a:stretch>
        </p:blipFill>
        <p:spPr>
          <a:xfrm>
            <a:off x="2670505" y="1452455"/>
            <a:ext cx="1036454" cy="775625"/>
          </a:xfrm>
          <a:prstGeom prst="rect">
            <a:avLst/>
          </a:prstGeom>
        </p:spPr>
      </p:pic>
    </p:spTree>
    <p:extLst>
      <p:ext uri="{BB962C8B-B14F-4D97-AF65-F5344CB8AC3E}">
        <p14:creationId xmlns:p14="http://schemas.microsoft.com/office/powerpoint/2010/main" val="2539597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27F36-35B0-4FBF-53C5-A01687A88B8F}"/>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A08512AA-4F1A-AF93-9431-EDFA69A0ACE9}"/>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7FF9F88D-A042-89EC-FF5F-034FAFD2999D}"/>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7CAE0E84-8530-703F-8DAC-9BFDFF1DF981}"/>
              </a:ext>
            </a:extLst>
          </p:cNvPr>
          <p:cNvSpPr txBox="1"/>
          <p:nvPr/>
        </p:nvSpPr>
        <p:spPr>
          <a:xfrm>
            <a:off x="4051819" y="1052736"/>
            <a:ext cx="7997757" cy="5632311"/>
          </a:xfrm>
          <a:prstGeom prst="rect">
            <a:avLst/>
          </a:prstGeom>
          <a:noFill/>
        </p:spPr>
        <p:txBody>
          <a:bodyPr wrap="square" rtlCol="0">
            <a:spAutoFit/>
          </a:bodyPr>
          <a:lstStyle/>
          <a:p>
            <a:pPr algn="l"/>
            <a:r>
              <a:rPr lang="de-DE" b="0" i="0" u="none" strike="noStrike" dirty="0">
                <a:effectLst/>
              </a:rPr>
              <a:t>Über die Jahre hat sich unsere Gruppe Kickboxen und deren Ausrichtung stetig verändert und weiterentwickelt, so wie auch das Kickboxen im Laufe der Jahrzehnte vom Nischen- zum Trendsport geworden ist. Unser heutiges Trainingskonzept ist dem Zeitgeist angepasst und bietet maximale Offenheit für alle Kickboxen-Interessierten.</a:t>
            </a:r>
            <a:br>
              <a:rPr lang="de-DE" b="0" i="0" u="none" strike="noStrike" dirty="0">
                <a:effectLst/>
              </a:rPr>
            </a:br>
            <a:br>
              <a:rPr lang="de-DE" b="0" i="0" u="none" strike="noStrike" dirty="0">
                <a:effectLst/>
              </a:rPr>
            </a:br>
            <a:r>
              <a:rPr lang="de-DE" b="0" i="0" u="none" strike="noStrike" dirty="0">
                <a:effectLst/>
              </a:rPr>
              <a:t>Unser Fokus liegt neben dem Erlernen der verschiedenen Schlag-, Tritt- und Bewegungstechniken auch stark auf dem Auf- und Ausbau von Ausdauerfähigkeit, Koordination und der Fitness. Durch viele Partnerübungen sowie das Sparring (im Leichtkontakt) wird praxisbezogen geübt, wobei die angemessene Schutzausrüstung unverzichtbar ist.</a:t>
            </a:r>
            <a:br>
              <a:rPr lang="de-DE" b="0" i="0" u="none" strike="noStrike" dirty="0">
                <a:effectLst/>
              </a:rPr>
            </a:br>
            <a:br>
              <a:rPr lang="de-DE" b="0" i="0" u="none" strike="noStrike" dirty="0">
                <a:effectLst/>
              </a:rPr>
            </a:br>
            <a:r>
              <a:rPr lang="de-DE" b="0" i="0" u="none" strike="noStrike" dirty="0">
                <a:effectLst/>
              </a:rPr>
              <a:t>An Wettkämpfen nehmen wir bewusst nicht teil. Mit unserem Trainingsangebot decken wir eine große Bandbreite ab, die zwischen einem leistungs- bzw. wettkampforientieren Training und den Kursen vieler Sportstudios liegt.</a:t>
            </a:r>
          </a:p>
          <a:p>
            <a:pPr algn="l"/>
            <a:br>
              <a:rPr lang="de-DE" b="0" i="0" u="none" strike="noStrike" dirty="0">
                <a:effectLst/>
              </a:rPr>
            </a:br>
            <a:r>
              <a:rPr lang="de-DE" b="0" i="0" u="none" strike="noStrike" dirty="0">
                <a:effectLst/>
              </a:rPr>
              <a:t>Unser Ziel ist es, den vielseitigen Sport Kickboxen über viele Jahre mit Spaß auszuüben und uns dabei langfristig weiter zu entwickeln. Damit sind wir offen für eine breite Zielgruppe, auch wenn noch keine Vorkenntnisse im Kampfsport vorhanden sind oder erst im Erwachsenenalter mit dem Training begonnen wird.</a:t>
            </a:r>
            <a:endParaRPr lang="de-DE" dirty="0"/>
          </a:p>
        </p:txBody>
      </p:sp>
      <p:sp>
        <p:nvSpPr>
          <p:cNvPr id="8" name="Textfeld 7">
            <a:extLst>
              <a:ext uri="{FF2B5EF4-FFF2-40B4-BE49-F238E27FC236}">
                <a16:creationId xmlns:a16="http://schemas.microsoft.com/office/drawing/2014/main" id="{811E7ECB-BB32-C1D3-2F09-9F0C419EBD5A}"/>
              </a:ext>
            </a:extLst>
          </p:cNvPr>
          <p:cNvSpPr txBox="1"/>
          <p:nvPr/>
        </p:nvSpPr>
        <p:spPr>
          <a:xfrm>
            <a:off x="2553219" y="1001326"/>
            <a:ext cx="1498600" cy="461665"/>
          </a:xfrm>
          <a:prstGeom prst="rect">
            <a:avLst/>
          </a:prstGeom>
          <a:noFill/>
        </p:spPr>
        <p:txBody>
          <a:bodyPr wrap="square" rtlCol="0">
            <a:spAutoFit/>
          </a:bodyPr>
          <a:lstStyle/>
          <a:p>
            <a:pPr algn="ctr"/>
            <a:r>
              <a:rPr lang="de-DE" sz="2400" b="1" dirty="0"/>
              <a:t>Kickboxen</a:t>
            </a:r>
          </a:p>
        </p:txBody>
      </p:sp>
      <p:pic>
        <p:nvPicPr>
          <p:cNvPr id="5" name="Grafik 4">
            <a:extLst>
              <a:ext uri="{FF2B5EF4-FFF2-40B4-BE49-F238E27FC236}">
                <a16:creationId xmlns:a16="http://schemas.microsoft.com/office/drawing/2014/main" id="{B26E3EBE-2DAD-C4DB-9FF8-63A3E5572B6E}"/>
              </a:ext>
            </a:extLst>
          </p:cNvPr>
          <p:cNvPicPr>
            <a:picLocks noChangeAspect="1"/>
          </p:cNvPicPr>
          <p:nvPr/>
        </p:nvPicPr>
        <p:blipFill>
          <a:blip r:embed="rId3"/>
          <a:stretch>
            <a:fillRect/>
          </a:stretch>
        </p:blipFill>
        <p:spPr>
          <a:xfrm>
            <a:off x="2668429" y="1462991"/>
            <a:ext cx="1290630" cy="1167223"/>
          </a:xfrm>
          <a:prstGeom prst="rect">
            <a:avLst/>
          </a:prstGeom>
        </p:spPr>
      </p:pic>
    </p:spTree>
    <p:extLst>
      <p:ext uri="{BB962C8B-B14F-4D97-AF65-F5344CB8AC3E}">
        <p14:creationId xmlns:p14="http://schemas.microsoft.com/office/powerpoint/2010/main" val="1275400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B3F8D-B934-2E10-41EB-B60FD4DD3F3B}"/>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8F9BBBDC-2727-468C-B342-FAB1893B3C29}"/>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0738E184-E36D-044D-B591-C745C143FA97}"/>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05C6F2CC-0077-9692-D3B4-80360DA6ED5D}"/>
              </a:ext>
            </a:extLst>
          </p:cNvPr>
          <p:cNvSpPr txBox="1"/>
          <p:nvPr/>
        </p:nvSpPr>
        <p:spPr>
          <a:xfrm>
            <a:off x="4051819" y="1052736"/>
            <a:ext cx="7997757" cy="4247317"/>
          </a:xfrm>
          <a:prstGeom prst="rect">
            <a:avLst/>
          </a:prstGeom>
          <a:noFill/>
        </p:spPr>
        <p:txBody>
          <a:bodyPr wrap="square" rtlCol="0">
            <a:spAutoFit/>
          </a:bodyPr>
          <a:lstStyle/>
          <a:p>
            <a:pPr algn="l"/>
            <a:r>
              <a:rPr lang="de-DE" b="0" i="0" u="none" strike="noStrike" dirty="0">
                <a:effectLst/>
              </a:rPr>
              <a:t>Das zeigt sich auch in der heutigen Zusammensetzung unserer Gruppe, mit Sportlerinnen und Sportlern unterschiedlicher Erfahrungsstufen und einer Altersspanne von 18 bis über 50 Jahren.</a:t>
            </a:r>
            <a:br>
              <a:rPr lang="de-DE" b="0" i="0" u="none" strike="noStrike" dirty="0">
                <a:effectLst/>
              </a:rPr>
            </a:br>
            <a:r>
              <a:rPr lang="de-DE" b="0" i="0" u="none" strike="noStrike" dirty="0">
                <a:effectLst/>
              </a:rPr>
              <a:t>Interessierte sind bei uns jederzeit herzlich willkommen, um sich selbst ein Bild zu machen und das  Kickboxen für sich zu entdecken.</a:t>
            </a:r>
            <a:br>
              <a:rPr lang="de-DE" b="0" i="0" u="none" strike="noStrike" dirty="0">
                <a:effectLst/>
              </a:rPr>
            </a:br>
            <a:br>
              <a:rPr lang="de-DE" b="0" i="0" u="none" strike="noStrike" dirty="0">
                <a:effectLst/>
              </a:rPr>
            </a:br>
            <a:r>
              <a:rPr lang="de-DE" b="0" i="0" u="none" strike="noStrike" dirty="0">
                <a:effectLst/>
              </a:rPr>
              <a:t>Unsere Gruppe umfasst je Training zwischen 10 und 20 Personen bei einem ausgeglichenen Frauen-/Männeranteil und einer Altersspanne zwischen 18 und über 50 Jahren</a:t>
            </a:r>
            <a:r>
              <a:rPr lang="de-DE" dirty="0"/>
              <a:t> sowie Jugendlichen ab 16 Jahren.</a:t>
            </a:r>
            <a:br>
              <a:rPr lang="de-DE" dirty="0"/>
            </a:br>
            <a:br>
              <a:rPr lang="de-DE" dirty="0"/>
            </a:br>
            <a:r>
              <a:rPr lang="de-DE" b="0" i="0" u="none" strike="noStrike" dirty="0">
                <a:effectLst/>
              </a:rPr>
              <a:t>Neben dem Erlernen der Kick- und Box- Techniken, der Bewegungsabläufe und der praktischen Verbindung aller Elemente im Sparring ergänzen wir unser Training auch durch gezielte Fitnessübungen. Interessierte sind bei uns jederzeit herzlich willkommen, um sich selbst ein Bild zu machen und das  Kickboxen für sich zu entdecken.</a:t>
            </a:r>
            <a:endParaRPr lang="de-DE" dirty="0"/>
          </a:p>
        </p:txBody>
      </p:sp>
      <p:sp>
        <p:nvSpPr>
          <p:cNvPr id="8" name="Textfeld 7">
            <a:extLst>
              <a:ext uri="{FF2B5EF4-FFF2-40B4-BE49-F238E27FC236}">
                <a16:creationId xmlns:a16="http://schemas.microsoft.com/office/drawing/2014/main" id="{E8292156-8F3B-9469-D28F-C7BCFE87958E}"/>
              </a:ext>
            </a:extLst>
          </p:cNvPr>
          <p:cNvSpPr txBox="1"/>
          <p:nvPr/>
        </p:nvSpPr>
        <p:spPr>
          <a:xfrm>
            <a:off x="2553219" y="1001326"/>
            <a:ext cx="1498600" cy="461665"/>
          </a:xfrm>
          <a:prstGeom prst="rect">
            <a:avLst/>
          </a:prstGeom>
          <a:noFill/>
        </p:spPr>
        <p:txBody>
          <a:bodyPr wrap="square" rtlCol="0">
            <a:spAutoFit/>
          </a:bodyPr>
          <a:lstStyle/>
          <a:p>
            <a:pPr algn="ctr"/>
            <a:r>
              <a:rPr lang="de-DE" sz="2400" b="1" dirty="0"/>
              <a:t>Kickboxen</a:t>
            </a:r>
          </a:p>
        </p:txBody>
      </p:sp>
      <p:pic>
        <p:nvPicPr>
          <p:cNvPr id="5" name="Grafik 4">
            <a:extLst>
              <a:ext uri="{FF2B5EF4-FFF2-40B4-BE49-F238E27FC236}">
                <a16:creationId xmlns:a16="http://schemas.microsoft.com/office/drawing/2014/main" id="{E3430072-5F7E-4247-251C-6C6CC743A370}"/>
              </a:ext>
            </a:extLst>
          </p:cNvPr>
          <p:cNvPicPr>
            <a:picLocks noChangeAspect="1"/>
          </p:cNvPicPr>
          <p:nvPr/>
        </p:nvPicPr>
        <p:blipFill>
          <a:blip r:embed="rId3"/>
          <a:stretch>
            <a:fillRect/>
          </a:stretch>
        </p:blipFill>
        <p:spPr>
          <a:xfrm>
            <a:off x="2668429" y="1462991"/>
            <a:ext cx="1290630" cy="1167223"/>
          </a:xfrm>
          <a:prstGeom prst="rect">
            <a:avLst/>
          </a:prstGeom>
        </p:spPr>
      </p:pic>
    </p:spTree>
    <p:extLst>
      <p:ext uri="{BB962C8B-B14F-4D97-AF65-F5344CB8AC3E}">
        <p14:creationId xmlns:p14="http://schemas.microsoft.com/office/powerpoint/2010/main" val="3248623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C7ADB-28DC-4F7F-F781-2666D29850D7}"/>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B89FDFB5-C900-876D-193E-739C30AD1F0C}"/>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30A00DFE-FD2B-EC68-78BB-67F0B934CAB9}"/>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feld 3">
            <a:extLst>
              <a:ext uri="{FF2B5EF4-FFF2-40B4-BE49-F238E27FC236}">
                <a16:creationId xmlns:a16="http://schemas.microsoft.com/office/drawing/2014/main" id="{4376B330-7CDC-7338-A0B8-33A52F326A05}"/>
              </a:ext>
            </a:extLst>
          </p:cNvPr>
          <p:cNvSpPr txBox="1"/>
          <p:nvPr/>
        </p:nvSpPr>
        <p:spPr>
          <a:xfrm>
            <a:off x="2563091" y="982902"/>
            <a:ext cx="2220492" cy="461665"/>
          </a:xfrm>
          <a:prstGeom prst="rect">
            <a:avLst/>
          </a:prstGeom>
          <a:noFill/>
        </p:spPr>
        <p:txBody>
          <a:bodyPr wrap="square" rtlCol="0">
            <a:spAutoFit/>
          </a:bodyPr>
          <a:lstStyle/>
          <a:p>
            <a:pPr algn="ctr"/>
            <a:r>
              <a:rPr lang="de-DE" sz="2400" b="1" dirty="0"/>
              <a:t>Trainingsorte</a:t>
            </a:r>
          </a:p>
        </p:txBody>
      </p:sp>
      <p:pic>
        <p:nvPicPr>
          <p:cNvPr id="13" name="Grafik 12">
            <a:extLst>
              <a:ext uri="{FF2B5EF4-FFF2-40B4-BE49-F238E27FC236}">
                <a16:creationId xmlns:a16="http://schemas.microsoft.com/office/drawing/2014/main" id="{7C797AE4-566C-FBD7-92B7-8484F01753C2}"/>
              </a:ext>
            </a:extLst>
          </p:cNvPr>
          <p:cNvPicPr>
            <a:picLocks noChangeAspect="1"/>
          </p:cNvPicPr>
          <p:nvPr/>
        </p:nvPicPr>
        <p:blipFill>
          <a:blip r:embed="rId3"/>
          <a:stretch>
            <a:fillRect/>
          </a:stretch>
        </p:blipFill>
        <p:spPr>
          <a:xfrm>
            <a:off x="2700446" y="1484784"/>
            <a:ext cx="9427557" cy="5172798"/>
          </a:xfrm>
          <a:prstGeom prst="rect">
            <a:avLst/>
          </a:prstGeom>
        </p:spPr>
      </p:pic>
    </p:spTree>
    <p:extLst>
      <p:ext uri="{BB962C8B-B14F-4D97-AF65-F5344CB8AC3E}">
        <p14:creationId xmlns:p14="http://schemas.microsoft.com/office/powerpoint/2010/main" val="872895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05EA9-DF3E-2FF7-1D06-865D1932A602}"/>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250AEA04-B5A5-EA42-D74F-2CEE28C73357}"/>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0DE50C8E-AB0B-5063-6507-89D4E80090AA}"/>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Tabelle 6">
            <a:extLst>
              <a:ext uri="{FF2B5EF4-FFF2-40B4-BE49-F238E27FC236}">
                <a16:creationId xmlns:a16="http://schemas.microsoft.com/office/drawing/2014/main" id="{AD68323E-71B2-FBE6-0235-E63BD138D208}"/>
              </a:ext>
            </a:extLst>
          </p:cNvPr>
          <p:cNvGraphicFramePr>
            <a:graphicFrameLocks noGrp="1"/>
          </p:cNvGraphicFramePr>
          <p:nvPr>
            <p:extLst>
              <p:ext uri="{D42A27DB-BD31-4B8C-83A1-F6EECF244321}">
                <p14:modId xmlns:p14="http://schemas.microsoft.com/office/powerpoint/2010/main" val="1114608705"/>
              </p:ext>
            </p:extLst>
          </p:nvPr>
        </p:nvGraphicFramePr>
        <p:xfrm>
          <a:off x="2711918" y="1288087"/>
          <a:ext cx="9432352" cy="5004045"/>
        </p:xfrm>
        <a:graphic>
          <a:graphicData uri="http://schemas.openxmlformats.org/drawingml/2006/table">
            <a:tbl>
              <a:tblPr firstRow="1" bandRow="1">
                <a:tableStyleId>{F5AB1C69-6EDB-4FF4-983F-18BD219EF322}</a:tableStyleId>
              </a:tblPr>
              <a:tblGrid>
                <a:gridCol w="1512000">
                  <a:extLst>
                    <a:ext uri="{9D8B030D-6E8A-4147-A177-3AD203B41FA5}">
                      <a16:colId xmlns:a16="http://schemas.microsoft.com/office/drawing/2014/main" val="740770160"/>
                    </a:ext>
                  </a:extLst>
                </a:gridCol>
                <a:gridCol w="1584000">
                  <a:extLst>
                    <a:ext uri="{9D8B030D-6E8A-4147-A177-3AD203B41FA5}">
                      <a16:colId xmlns:a16="http://schemas.microsoft.com/office/drawing/2014/main" val="2355434158"/>
                    </a:ext>
                  </a:extLst>
                </a:gridCol>
                <a:gridCol w="1584000">
                  <a:extLst>
                    <a:ext uri="{9D8B030D-6E8A-4147-A177-3AD203B41FA5}">
                      <a16:colId xmlns:a16="http://schemas.microsoft.com/office/drawing/2014/main" val="1109563764"/>
                    </a:ext>
                  </a:extLst>
                </a:gridCol>
                <a:gridCol w="1584176">
                  <a:extLst>
                    <a:ext uri="{9D8B030D-6E8A-4147-A177-3AD203B41FA5}">
                      <a16:colId xmlns:a16="http://schemas.microsoft.com/office/drawing/2014/main" val="1453368672"/>
                    </a:ext>
                  </a:extLst>
                </a:gridCol>
                <a:gridCol w="1584000">
                  <a:extLst>
                    <a:ext uri="{9D8B030D-6E8A-4147-A177-3AD203B41FA5}">
                      <a16:colId xmlns:a16="http://schemas.microsoft.com/office/drawing/2014/main" val="459417410"/>
                    </a:ext>
                  </a:extLst>
                </a:gridCol>
                <a:gridCol w="1584176">
                  <a:extLst>
                    <a:ext uri="{9D8B030D-6E8A-4147-A177-3AD203B41FA5}">
                      <a16:colId xmlns:a16="http://schemas.microsoft.com/office/drawing/2014/main" val="1696950250"/>
                    </a:ext>
                  </a:extLst>
                </a:gridCol>
              </a:tblGrid>
              <a:tr h="413789">
                <a:tc>
                  <a:txBody>
                    <a:bodyPr/>
                    <a:lstStyle/>
                    <a:p>
                      <a:endParaRPr lang="de-DE" sz="1400" dirty="0"/>
                    </a:p>
                  </a:txBody>
                  <a:tcPr/>
                </a:tc>
                <a:tc>
                  <a:txBody>
                    <a:bodyPr/>
                    <a:lstStyle/>
                    <a:p>
                      <a:pPr algn="ctr"/>
                      <a:r>
                        <a:rPr lang="de-DE" sz="2000" dirty="0"/>
                        <a:t>Mo</a:t>
                      </a:r>
                    </a:p>
                  </a:txBody>
                  <a:tcPr/>
                </a:tc>
                <a:tc>
                  <a:txBody>
                    <a:bodyPr/>
                    <a:lstStyle/>
                    <a:p>
                      <a:pPr algn="ctr"/>
                      <a:r>
                        <a:rPr lang="de-DE" sz="2000" dirty="0"/>
                        <a:t>Di</a:t>
                      </a:r>
                    </a:p>
                  </a:txBody>
                  <a:tcPr/>
                </a:tc>
                <a:tc>
                  <a:txBody>
                    <a:bodyPr/>
                    <a:lstStyle/>
                    <a:p>
                      <a:pPr algn="ctr"/>
                      <a:r>
                        <a:rPr lang="de-DE" sz="2000" dirty="0"/>
                        <a:t>Mi</a:t>
                      </a:r>
                    </a:p>
                  </a:txBody>
                  <a:tcPr/>
                </a:tc>
                <a:tc>
                  <a:txBody>
                    <a:bodyPr/>
                    <a:lstStyle/>
                    <a:p>
                      <a:pPr algn="ctr"/>
                      <a:r>
                        <a:rPr lang="de-DE" sz="2000" dirty="0"/>
                        <a:t>Do</a:t>
                      </a:r>
                    </a:p>
                  </a:txBody>
                  <a:tcPr/>
                </a:tc>
                <a:tc>
                  <a:txBody>
                    <a:bodyPr/>
                    <a:lstStyle/>
                    <a:p>
                      <a:pPr algn="ctr"/>
                      <a:r>
                        <a:rPr lang="de-DE" sz="2000" dirty="0"/>
                        <a:t>Fr</a:t>
                      </a:r>
                    </a:p>
                  </a:txBody>
                  <a:tcPr/>
                </a:tc>
                <a:extLst>
                  <a:ext uri="{0D108BD9-81ED-4DB2-BD59-A6C34878D82A}">
                    <a16:rowId xmlns:a16="http://schemas.microsoft.com/office/drawing/2014/main" val="2020167920"/>
                  </a:ext>
                </a:extLst>
              </a:tr>
              <a:tr h="1439092">
                <a:tc>
                  <a:txBody>
                    <a:bodyPr/>
                    <a:lstStyle/>
                    <a:p>
                      <a:r>
                        <a:rPr lang="de-DE" sz="2000" b="1" dirty="0"/>
                        <a:t>Wadō Ryū</a:t>
                      </a:r>
                      <a:br>
                        <a:rPr lang="de-DE" sz="2000" b="1" dirty="0"/>
                      </a:br>
                      <a:r>
                        <a:rPr lang="de-DE" sz="2000" b="1" dirty="0"/>
                        <a:t>Karate</a:t>
                      </a:r>
                    </a:p>
                  </a:txBody>
                  <a:tcPr/>
                </a:tc>
                <a:tc>
                  <a:txBody>
                    <a:bodyPr/>
                    <a:lstStyle/>
                    <a:p>
                      <a:r>
                        <a:rPr lang="de-DE" sz="1400" b="1" dirty="0" err="1"/>
                        <a:t>JoHo</a:t>
                      </a:r>
                      <a:r>
                        <a:rPr lang="de-DE" sz="1400" b="1" dirty="0"/>
                        <a:t> </a:t>
                      </a:r>
                      <a:r>
                        <a:rPr lang="de-DE" sz="1400" b="1" dirty="0" err="1"/>
                        <a:t>Gym</a:t>
                      </a:r>
                      <a:r>
                        <a:rPr lang="de-DE" sz="1400" b="1" dirty="0"/>
                        <a:t> (H)</a:t>
                      </a:r>
                      <a:br>
                        <a:rPr lang="de-DE" sz="1400" dirty="0"/>
                      </a:br>
                      <a:r>
                        <a:rPr lang="de-DE" sz="1400" dirty="0"/>
                        <a:t>20:00-22:00 E</a:t>
                      </a:r>
                      <a:endParaRPr lang="de-DE" sz="1400" b="1" i="1" dirty="0"/>
                    </a:p>
                  </a:txBody>
                  <a:tcPr/>
                </a:tc>
                <a:tc>
                  <a:txBody>
                    <a:bodyPr/>
                    <a:lstStyle/>
                    <a:p>
                      <a:endParaRPr lang="de-DE" sz="1400" dirty="0"/>
                    </a:p>
                  </a:txBody>
                  <a:tcPr/>
                </a:tc>
                <a:tc>
                  <a:txBody>
                    <a:bodyPr/>
                    <a:lstStyle/>
                    <a:p>
                      <a:r>
                        <a:rPr lang="de-DE" sz="1400" b="1" dirty="0" err="1"/>
                        <a:t>JoHo</a:t>
                      </a:r>
                      <a:r>
                        <a:rPr lang="de-DE" sz="1400" b="1" dirty="0"/>
                        <a:t> </a:t>
                      </a:r>
                      <a:r>
                        <a:rPr lang="de-DE" sz="1400" b="1" dirty="0" err="1"/>
                        <a:t>Gym</a:t>
                      </a:r>
                      <a:r>
                        <a:rPr lang="de-DE" sz="1400" b="1" dirty="0"/>
                        <a:t> (D)</a:t>
                      </a:r>
                      <a:br>
                        <a:rPr lang="de-DE" sz="1400" dirty="0"/>
                      </a:br>
                      <a:r>
                        <a:rPr lang="de-DE" sz="1400" dirty="0"/>
                        <a:t>17:30-18:45 K,F</a:t>
                      </a:r>
                      <a:endParaRPr lang="de-DE" sz="14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dirty="0"/>
                        <a:t>18:45-22:00 J</a:t>
                      </a:r>
                      <a:br>
                        <a:rPr lang="de-DE" sz="1400" b="1" dirty="0"/>
                      </a:br>
                      <a:r>
                        <a:rPr lang="de-DE" sz="1400" b="1" dirty="0" err="1">
                          <a:solidFill>
                            <a:schemeClr val="tx1"/>
                          </a:solidFill>
                        </a:rPr>
                        <a:t>JoHo</a:t>
                      </a:r>
                      <a:r>
                        <a:rPr lang="de-DE" sz="1400" b="1" dirty="0">
                          <a:solidFill>
                            <a:schemeClr val="tx1"/>
                          </a:solidFill>
                        </a:rPr>
                        <a:t> </a:t>
                      </a:r>
                      <a:r>
                        <a:rPr lang="de-DE" sz="1400" b="1" dirty="0" err="1">
                          <a:solidFill>
                            <a:schemeClr val="tx1"/>
                          </a:solidFill>
                        </a:rPr>
                        <a:t>Gym</a:t>
                      </a:r>
                      <a:r>
                        <a:rPr lang="de-DE" sz="1400" b="1" dirty="0">
                          <a:solidFill>
                            <a:schemeClr val="tx1"/>
                          </a:solidFill>
                        </a:rPr>
                        <a:t> (H)</a:t>
                      </a:r>
                      <a:br>
                        <a:rPr lang="de-DE" sz="1400" dirty="0"/>
                      </a:br>
                      <a:r>
                        <a:rPr lang="de-DE" sz="1400" dirty="0"/>
                        <a:t>20:00-22:00 E</a:t>
                      </a:r>
                      <a:br>
                        <a:rPr lang="de-DE" sz="1400" dirty="0"/>
                      </a:br>
                      <a:r>
                        <a:rPr lang="de-DE" sz="1400" dirty="0"/>
                        <a:t>20:00-21:30 S</a:t>
                      </a:r>
                      <a:endParaRPr lang="de-DE" sz="1400" b="0" i="1" dirty="0"/>
                    </a:p>
                  </a:txBody>
                  <a:tcPr/>
                </a:tc>
                <a:tc>
                  <a:txBody>
                    <a:bodyPr/>
                    <a:lstStyle/>
                    <a:p>
                      <a:endParaRPr lang="de-DE"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GS </a:t>
                      </a:r>
                      <a:r>
                        <a:rPr lang="de-DE" sz="1400" b="1" dirty="0" err="1"/>
                        <a:t>Korbin</a:t>
                      </a:r>
                      <a:r>
                        <a:rPr lang="de-DE" sz="1400"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dirty="0"/>
                        <a:t>17:00-18:30 K,A</a:t>
                      </a:r>
                      <a:endParaRPr lang="de-DE" sz="14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GS </a:t>
                      </a:r>
                      <a:r>
                        <a:rPr lang="de-DE" sz="1400" b="1" dirty="0" err="1"/>
                        <a:t>Korbin</a:t>
                      </a:r>
                      <a:r>
                        <a:rPr lang="de-DE" sz="1400" b="1" dirty="0"/>
                        <a:t>.</a:t>
                      </a:r>
                      <a:br>
                        <a:rPr lang="de-DE" sz="1400" b="1" dirty="0"/>
                      </a:br>
                      <a:r>
                        <a:rPr lang="de-DE" sz="1400" b="1" dirty="0" err="1"/>
                        <a:t>JoHo</a:t>
                      </a:r>
                      <a:r>
                        <a:rPr lang="de-DE" sz="1400" b="1" dirty="0"/>
                        <a:t> </a:t>
                      </a:r>
                      <a:r>
                        <a:rPr lang="de-DE" sz="1400" b="1" dirty="0" err="1"/>
                        <a:t>Gym</a:t>
                      </a:r>
                      <a:r>
                        <a:rPr lang="de-DE" sz="1400" b="1" dirty="0"/>
                        <a:t> (H)*</a:t>
                      </a:r>
                      <a:br>
                        <a:rPr lang="de-DE" sz="1400" dirty="0"/>
                      </a:br>
                      <a:r>
                        <a:rPr lang="de-DE" sz="1400" dirty="0"/>
                        <a:t>20:00-22:00 E</a:t>
                      </a:r>
                      <a:endParaRPr lang="de-DE" sz="1400" b="0" i="1" dirty="0"/>
                    </a:p>
                  </a:txBody>
                  <a:tcPr/>
                </a:tc>
                <a:extLst>
                  <a:ext uri="{0D108BD9-81ED-4DB2-BD59-A6C34878D82A}">
                    <a16:rowId xmlns:a16="http://schemas.microsoft.com/office/drawing/2014/main" val="4053954778"/>
                  </a:ext>
                </a:extLst>
              </a:tr>
              <a:tr h="1050388">
                <a:tc>
                  <a:txBody>
                    <a:bodyPr/>
                    <a:lstStyle/>
                    <a:p>
                      <a:r>
                        <a:rPr lang="de-DE" sz="2000" b="1" dirty="0"/>
                        <a:t>Takamura ha Shindō</a:t>
                      </a:r>
                      <a:br>
                        <a:rPr lang="de-DE" sz="2000" b="1" dirty="0"/>
                      </a:br>
                      <a:r>
                        <a:rPr lang="de-DE" sz="2000" b="1" dirty="0"/>
                        <a:t>Yōshin Ryū</a:t>
                      </a:r>
                    </a:p>
                  </a:txBody>
                  <a:tcPr/>
                </a:tc>
                <a:tc>
                  <a:txBody>
                    <a:bodyPr/>
                    <a:lstStyle/>
                    <a:p>
                      <a:r>
                        <a:rPr lang="de-DE" sz="1400" b="1" dirty="0" err="1"/>
                        <a:t>JoHo</a:t>
                      </a:r>
                      <a:r>
                        <a:rPr lang="de-DE" sz="1400" b="1" dirty="0"/>
                        <a:t> </a:t>
                      </a:r>
                      <a:r>
                        <a:rPr lang="de-DE" sz="1400" b="1" dirty="0" err="1"/>
                        <a:t>Gym</a:t>
                      </a:r>
                      <a:r>
                        <a:rPr lang="de-DE" sz="1400" b="1" dirty="0"/>
                        <a:t> (H)*</a:t>
                      </a:r>
                      <a:br>
                        <a:rPr lang="de-DE" sz="1400" dirty="0"/>
                      </a:br>
                      <a:r>
                        <a:rPr lang="de-DE" sz="1400" dirty="0"/>
                        <a:t>18:30-21:00 E</a:t>
                      </a:r>
                      <a:endParaRPr lang="de-DE" sz="1400" b="0" i="1" dirty="0"/>
                    </a:p>
                  </a:txBody>
                  <a:tcPr/>
                </a:tc>
                <a:tc>
                  <a:txBody>
                    <a:bodyPr/>
                    <a:lstStyle/>
                    <a:p>
                      <a:endParaRPr lang="de-DE" sz="1400" dirty="0"/>
                    </a:p>
                  </a:txBody>
                  <a:tcPr/>
                </a:tc>
                <a:tc>
                  <a:txBody>
                    <a:bodyPr/>
                    <a:lstStyle/>
                    <a:p>
                      <a:r>
                        <a:rPr lang="de-DE" sz="1400" b="1" dirty="0" err="1"/>
                        <a:t>JoHo</a:t>
                      </a:r>
                      <a:r>
                        <a:rPr lang="de-DE" sz="1400" b="1" dirty="0"/>
                        <a:t> </a:t>
                      </a:r>
                      <a:r>
                        <a:rPr lang="de-DE" sz="1400" b="1" dirty="0" err="1"/>
                        <a:t>Gym</a:t>
                      </a:r>
                      <a:r>
                        <a:rPr lang="de-DE" sz="1400" b="1" dirty="0"/>
                        <a:t> (H)</a:t>
                      </a:r>
                      <a:br>
                        <a:rPr lang="de-DE" sz="1400" dirty="0"/>
                      </a:br>
                      <a:r>
                        <a:rPr lang="de-DE" sz="1400" dirty="0"/>
                        <a:t>18:30-21:00 E</a:t>
                      </a:r>
                      <a:endParaRPr lang="de-DE" sz="1400" b="0" i="1" dirty="0"/>
                    </a:p>
                  </a:txBody>
                  <a:tcPr/>
                </a:tc>
                <a:tc>
                  <a:txBody>
                    <a:bodyPr/>
                    <a:lstStyle/>
                    <a:p>
                      <a:endParaRPr lang="de-DE"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GS </a:t>
                      </a:r>
                      <a:r>
                        <a:rPr lang="de-DE" sz="1400" b="1" dirty="0" err="1"/>
                        <a:t>Korbin</a:t>
                      </a:r>
                      <a:r>
                        <a:rPr lang="de-DE" sz="1400"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dirty="0"/>
                        <a:t>18:30-21:00 E</a:t>
                      </a:r>
                      <a:endParaRPr lang="de-DE" sz="1400" b="1" i="1" dirty="0"/>
                    </a:p>
                  </a:txBody>
                  <a:tcPr/>
                </a:tc>
                <a:extLst>
                  <a:ext uri="{0D108BD9-81ED-4DB2-BD59-A6C34878D82A}">
                    <a16:rowId xmlns:a16="http://schemas.microsoft.com/office/drawing/2014/main" val="1386914679"/>
                  </a:ext>
                </a:extLst>
              </a:tr>
              <a:tr h="1050388">
                <a:tc>
                  <a:txBody>
                    <a:bodyPr/>
                    <a:lstStyle/>
                    <a:p>
                      <a:r>
                        <a:rPr lang="de-DE" sz="2000" b="1" dirty="0"/>
                        <a:t>Taiji</a:t>
                      </a:r>
                    </a:p>
                    <a:p>
                      <a:endParaRPr lang="de-DE" sz="2000" b="1" dirty="0"/>
                    </a:p>
                    <a:p>
                      <a:endParaRPr lang="de-DE" sz="2000" b="1" dirty="0"/>
                    </a:p>
                  </a:txBody>
                  <a:tcPr/>
                </a:tc>
                <a:tc>
                  <a:txBody>
                    <a:bodyPr/>
                    <a:lstStyle/>
                    <a:p>
                      <a:endParaRPr lang="de-DE"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GS </a:t>
                      </a:r>
                      <a:r>
                        <a:rPr lang="de-DE" sz="1400" b="1" dirty="0" err="1"/>
                        <a:t>Korbin</a:t>
                      </a:r>
                      <a:r>
                        <a:rPr lang="de-DE" sz="1400"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dirty="0"/>
                        <a:t>19:00-20:30 E,VHS</a:t>
                      </a:r>
                      <a:br>
                        <a:rPr lang="de-DE" sz="1400" dirty="0"/>
                      </a:br>
                      <a:r>
                        <a:rPr lang="de-DE" sz="1400" dirty="0"/>
                        <a:t>19:00-20:30 E,A</a:t>
                      </a:r>
                      <a:br>
                        <a:rPr lang="de-DE" sz="1400" dirty="0"/>
                      </a:br>
                      <a:r>
                        <a:rPr lang="de-DE" sz="1400" dirty="0"/>
                        <a:t>20:30-22:00 E,F</a:t>
                      </a:r>
                      <a:endParaRPr lang="de-DE" sz="1400" b="0" i="1" dirty="0"/>
                    </a:p>
                  </a:txBody>
                  <a:tcPr/>
                </a:tc>
                <a:tc>
                  <a:txBody>
                    <a:bodyPr/>
                    <a:lstStyle/>
                    <a:p>
                      <a:endParaRPr lang="de-DE"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err="1"/>
                        <a:t>JoHo</a:t>
                      </a:r>
                      <a:r>
                        <a:rPr lang="de-DE" sz="1400" b="1" dirty="0"/>
                        <a:t> </a:t>
                      </a:r>
                      <a:r>
                        <a:rPr lang="de-DE" sz="1400" b="1" dirty="0" err="1"/>
                        <a:t>Gym</a:t>
                      </a:r>
                      <a:r>
                        <a:rPr lang="de-DE" sz="1400" b="1" dirty="0"/>
                        <a:t>. (H)</a:t>
                      </a:r>
                      <a:br>
                        <a:rPr lang="de-DE" sz="1400" dirty="0"/>
                      </a:br>
                      <a:r>
                        <a:rPr lang="de-DE" sz="1400" dirty="0"/>
                        <a:t>20:00-22:00 E,A+F</a:t>
                      </a:r>
                      <a:endParaRPr lang="de-DE" sz="1400" b="1" i="1" dirty="0"/>
                    </a:p>
                  </a:txBody>
                  <a:tcPr/>
                </a:tc>
                <a:tc>
                  <a:txBody>
                    <a:bodyPr/>
                    <a:lstStyle/>
                    <a:p>
                      <a:endParaRPr lang="de-DE" sz="1400" dirty="0"/>
                    </a:p>
                  </a:txBody>
                  <a:tcPr/>
                </a:tc>
                <a:extLst>
                  <a:ext uri="{0D108BD9-81ED-4DB2-BD59-A6C34878D82A}">
                    <a16:rowId xmlns:a16="http://schemas.microsoft.com/office/drawing/2014/main" val="1245555560"/>
                  </a:ext>
                </a:extLst>
              </a:tr>
              <a:tr h="1050388">
                <a:tc>
                  <a:txBody>
                    <a:bodyPr/>
                    <a:lstStyle/>
                    <a:p>
                      <a:r>
                        <a:rPr lang="de-DE" sz="2000" b="1" dirty="0"/>
                        <a:t>Kickboxen</a:t>
                      </a:r>
                    </a:p>
                    <a:p>
                      <a:endParaRPr lang="de-DE" sz="2000" b="1" dirty="0"/>
                    </a:p>
                    <a:p>
                      <a:endParaRPr lang="de-DE" sz="20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err="1"/>
                        <a:t>JoHo</a:t>
                      </a:r>
                      <a:r>
                        <a:rPr lang="de-DE" sz="1400" b="1" dirty="0"/>
                        <a:t> </a:t>
                      </a:r>
                      <a:r>
                        <a:rPr lang="de-DE" sz="1400" b="1" dirty="0" err="1"/>
                        <a:t>Gym</a:t>
                      </a:r>
                      <a:r>
                        <a:rPr lang="de-DE" sz="1400" b="1" dirty="0"/>
                        <a:t>. (D)</a:t>
                      </a:r>
                      <a:br>
                        <a:rPr lang="de-DE" sz="1400" dirty="0"/>
                      </a:br>
                      <a:r>
                        <a:rPr lang="de-DE" sz="1400" dirty="0"/>
                        <a:t>20:00-22:00 E</a:t>
                      </a:r>
                      <a:endParaRPr lang="de-DE" sz="1400" b="1" i="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1400" dirty="0"/>
                    </a:p>
                  </a:txBody>
                  <a:tcPr/>
                </a:tc>
                <a:tc>
                  <a:txBody>
                    <a:bodyPr/>
                    <a:lstStyle/>
                    <a:p>
                      <a:endParaRPr lang="de-DE"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err="1"/>
                        <a:t>JoHo</a:t>
                      </a:r>
                      <a:r>
                        <a:rPr lang="de-DE" sz="1400" b="1" dirty="0"/>
                        <a:t> </a:t>
                      </a:r>
                      <a:r>
                        <a:rPr lang="de-DE" sz="1400" b="1" dirty="0" err="1"/>
                        <a:t>Gym</a:t>
                      </a:r>
                      <a:r>
                        <a:rPr lang="de-DE" sz="1400" b="1" dirty="0"/>
                        <a:t>. (D)</a:t>
                      </a:r>
                      <a:br>
                        <a:rPr lang="de-DE" sz="1400" dirty="0"/>
                      </a:br>
                      <a:r>
                        <a:rPr lang="de-DE" sz="1400" dirty="0"/>
                        <a:t>20:00-22:00 E,J</a:t>
                      </a:r>
                      <a:endParaRPr lang="de-DE" sz="1400" b="0" i="1" dirty="0"/>
                    </a:p>
                  </a:txBody>
                  <a:tcPr/>
                </a:tc>
                <a:tc>
                  <a:txBody>
                    <a:bodyPr/>
                    <a:lstStyle/>
                    <a:p>
                      <a:endParaRPr lang="de-DE" sz="1400" dirty="0"/>
                    </a:p>
                  </a:txBody>
                  <a:tcPr/>
                </a:tc>
                <a:extLst>
                  <a:ext uri="{0D108BD9-81ED-4DB2-BD59-A6C34878D82A}">
                    <a16:rowId xmlns:a16="http://schemas.microsoft.com/office/drawing/2014/main" val="3730547811"/>
                  </a:ext>
                </a:extLst>
              </a:tr>
            </a:tbl>
          </a:graphicData>
        </a:graphic>
      </p:graphicFrame>
      <p:sp>
        <p:nvSpPr>
          <p:cNvPr id="12" name="Textfeld 11">
            <a:extLst>
              <a:ext uri="{FF2B5EF4-FFF2-40B4-BE49-F238E27FC236}">
                <a16:creationId xmlns:a16="http://schemas.microsoft.com/office/drawing/2014/main" id="{508684AF-11D5-93C0-588C-93E3841E96FB}"/>
              </a:ext>
            </a:extLst>
          </p:cNvPr>
          <p:cNvSpPr txBox="1"/>
          <p:nvPr/>
        </p:nvSpPr>
        <p:spPr>
          <a:xfrm>
            <a:off x="2630415" y="6246585"/>
            <a:ext cx="9513855" cy="523220"/>
          </a:xfrm>
          <a:prstGeom prst="rect">
            <a:avLst/>
          </a:prstGeom>
          <a:noFill/>
        </p:spPr>
        <p:txBody>
          <a:bodyPr wrap="square" rtlCol="0">
            <a:spAutoFit/>
          </a:bodyPr>
          <a:lstStyle/>
          <a:p>
            <a:r>
              <a:rPr lang="de-DE" sz="1400" dirty="0"/>
              <a:t>(H)=Herrenumkleideseite, (D)=Damenumkleideseite *=nach </a:t>
            </a:r>
            <a:r>
              <a:rPr lang="de-DE" sz="1400" dirty="0" err="1"/>
              <a:t>Osterfer</a:t>
            </a:r>
            <a:r>
              <a:rPr lang="de-DE" sz="1400" dirty="0"/>
              <a:t>. bis </a:t>
            </a:r>
            <a:r>
              <a:rPr lang="de-DE" sz="1400" dirty="0" err="1"/>
              <a:t>Herbstfer</a:t>
            </a:r>
            <a:r>
              <a:rPr lang="de-DE" sz="1400" dirty="0"/>
              <a:t>., A=Anfänger, F=Fortgeschrittene,</a:t>
            </a:r>
            <a:br>
              <a:rPr lang="de-DE" sz="1400" dirty="0"/>
            </a:br>
            <a:r>
              <a:rPr lang="de-DE" sz="1400" dirty="0"/>
              <a:t>VHS=Kurs der Volkshochschule, E=Erwachsene, S=Senioren, J=Jugendliche</a:t>
            </a:r>
            <a:r>
              <a:rPr lang="de-DE" sz="1400"/>
              <a:t>, K=</a:t>
            </a:r>
            <a:r>
              <a:rPr lang="de-DE" sz="1400" dirty="0"/>
              <a:t>Kinder</a:t>
            </a:r>
          </a:p>
        </p:txBody>
      </p:sp>
      <p:sp>
        <p:nvSpPr>
          <p:cNvPr id="14" name="Textfeld 13">
            <a:extLst>
              <a:ext uri="{FF2B5EF4-FFF2-40B4-BE49-F238E27FC236}">
                <a16:creationId xmlns:a16="http://schemas.microsoft.com/office/drawing/2014/main" id="{136F11A9-D618-A5D2-3EA6-80E89C3A3BDD}"/>
              </a:ext>
            </a:extLst>
          </p:cNvPr>
          <p:cNvSpPr txBox="1"/>
          <p:nvPr/>
        </p:nvSpPr>
        <p:spPr>
          <a:xfrm>
            <a:off x="2542191" y="875884"/>
            <a:ext cx="2220492" cy="461665"/>
          </a:xfrm>
          <a:prstGeom prst="rect">
            <a:avLst/>
          </a:prstGeom>
          <a:noFill/>
        </p:spPr>
        <p:txBody>
          <a:bodyPr wrap="square" rtlCol="0">
            <a:spAutoFit/>
          </a:bodyPr>
          <a:lstStyle/>
          <a:p>
            <a:pPr algn="ctr"/>
            <a:r>
              <a:rPr lang="de-DE" sz="2400" b="1" dirty="0"/>
              <a:t>Trainingszeiten</a:t>
            </a:r>
          </a:p>
        </p:txBody>
      </p:sp>
    </p:spTree>
    <p:extLst>
      <p:ext uri="{BB962C8B-B14F-4D97-AF65-F5344CB8AC3E}">
        <p14:creationId xmlns:p14="http://schemas.microsoft.com/office/powerpoint/2010/main" val="1423094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3A5CF-A79E-2932-F85C-134EF59AD906}"/>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CBD7697E-34DD-8745-3A14-F63B57B1FE1A}"/>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E6BA54F3-2D88-BF0D-8F73-153F67FF3753}"/>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 name="Tabelle 3">
            <a:extLst>
              <a:ext uri="{FF2B5EF4-FFF2-40B4-BE49-F238E27FC236}">
                <a16:creationId xmlns:a16="http://schemas.microsoft.com/office/drawing/2014/main" id="{203F0ADF-E400-54F6-303E-BBA98355EFFC}"/>
              </a:ext>
            </a:extLst>
          </p:cNvPr>
          <p:cNvGraphicFramePr>
            <a:graphicFrameLocks noGrp="1"/>
          </p:cNvGraphicFramePr>
          <p:nvPr>
            <p:extLst>
              <p:ext uri="{D42A27DB-BD31-4B8C-83A1-F6EECF244321}">
                <p14:modId xmlns:p14="http://schemas.microsoft.com/office/powerpoint/2010/main" val="1109425135"/>
              </p:ext>
            </p:extLst>
          </p:nvPr>
        </p:nvGraphicFramePr>
        <p:xfrm>
          <a:off x="2733841" y="1068437"/>
          <a:ext cx="4237399" cy="2966720"/>
        </p:xfrm>
        <a:graphic>
          <a:graphicData uri="http://schemas.openxmlformats.org/drawingml/2006/table">
            <a:tbl>
              <a:tblPr firstRow="1" bandRow="1">
                <a:tableStyleId>{5940675A-B579-460E-94D1-54222C63F5DA}</a:tableStyleId>
              </a:tblPr>
              <a:tblGrid>
                <a:gridCol w="4237399">
                  <a:extLst>
                    <a:ext uri="{9D8B030D-6E8A-4147-A177-3AD203B41FA5}">
                      <a16:colId xmlns:a16="http://schemas.microsoft.com/office/drawing/2014/main" val="2930551912"/>
                    </a:ext>
                  </a:extLst>
                </a:gridCol>
              </a:tblGrid>
              <a:tr h="370840">
                <a:tc>
                  <a:txBody>
                    <a:bodyPr/>
                    <a:lstStyle/>
                    <a:p>
                      <a:r>
                        <a:rPr lang="de-DE" b="1" dirty="0" err="1"/>
                        <a:t>Trainerschaft</a:t>
                      </a:r>
                      <a:r>
                        <a:rPr lang="de-DE" b="1" dirty="0"/>
                        <a:t> </a:t>
                      </a:r>
                      <a:r>
                        <a:rPr lang="de-DE" b="1" dirty="0" err="1"/>
                        <a:t>Wado</a:t>
                      </a:r>
                      <a:r>
                        <a:rPr lang="de-DE" b="1" dirty="0"/>
                        <a:t> Ryu Karate</a:t>
                      </a:r>
                    </a:p>
                  </a:txBody>
                  <a:tcPr/>
                </a:tc>
                <a:extLst>
                  <a:ext uri="{0D108BD9-81ED-4DB2-BD59-A6C34878D82A}">
                    <a16:rowId xmlns:a16="http://schemas.microsoft.com/office/drawing/2014/main" val="1044388170"/>
                  </a:ext>
                </a:extLst>
              </a:tr>
              <a:tr h="370840">
                <a:tc>
                  <a:txBody>
                    <a:bodyPr/>
                    <a:lstStyle/>
                    <a:p>
                      <a:r>
                        <a:rPr lang="de-DE" dirty="0"/>
                        <a:t>Friedemann Böhme (Cheftrainer) </a:t>
                      </a:r>
                      <a:r>
                        <a:rPr lang="de-DE" dirty="0" err="1"/>
                        <a:t>Erw</a:t>
                      </a:r>
                      <a:r>
                        <a:rPr lang="de-DE" dirty="0"/>
                        <a:t>.</a:t>
                      </a:r>
                    </a:p>
                  </a:txBody>
                  <a:tcPr/>
                </a:tc>
                <a:extLst>
                  <a:ext uri="{0D108BD9-81ED-4DB2-BD59-A6C34878D82A}">
                    <a16:rowId xmlns:a16="http://schemas.microsoft.com/office/drawing/2014/main" val="466032820"/>
                  </a:ext>
                </a:extLst>
              </a:tr>
              <a:tr h="370840">
                <a:tc>
                  <a:txBody>
                    <a:bodyPr/>
                    <a:lstStyle/>
                    <a:p>
                      <a:r>
                        <a:rPr lang="de-DE" dirty="0"/>
                        <a:t>Max Gleixner </a:t>
                      </a:r>
                      <a:r>
                        <a:rPr lang="de-DE" dirty="0" err="1"/>
                        <a:t>Erw</a:t>
                      </a:r>
                      <a:r>
                        <a:rPr lang="de-DE" dirty="0"/>
                        <a:t>.</a:t>
                      </a:r>
                    </a:p>
                  </a:txBody>
                  <a:tcPr/>
                </a:tc>
                <a:extLst>
                  <a:ext uri="{0D108BD9-81ED-4DB2-BD59-A6C34878D82A}">
                    <a16:rowId xmlns:a16="http://schemas.microsoft.com/office/drawing/2014/main" val="1159423433"/>
                  </a:ext>
                </a:extLst>
              </a:tr>
              <a:tr h="370840">
                <a:tc>
                  <a:txBody>
                    <a:bodyPr/>
                    <a:lstStyle/>
                    <a:p>
                      <a:r>
                        <a:rPr lang="de-DE" dirty="0"/>
                        <a:t>Luise Weber, </a:t>
                      </a:r>
                      <a:r>
                        <a:rPr lang="de-DE" dirty="0" err="1"/>
                        <a:t>Erw</a:t>
                      </a:r>
                      <a:r>
                        <a:rPr lang="de-DE" dirty="0"/>
                        <a:t>.</a:t>
                      </a:r>
                    </a:p>
                  </a:txBody>
                  <a:tcPr/>
                </a:tc>
                <a:extLst>
                  <a:ext uri="{0D108BD9-81ED-4DB2-BD59-A6C34878D82A}">
                    <a16:rowId xmlns:a16="http://schemas.microsoft.com/office/drawing/2014/main" val="860787908"/>
                  </a:ext>
                </a:extLst>
              </a:tr>
              <a:tr h="370840">
                <a:tc>
                  <a:txBody>
                    <a:bodyPr/>
                    <a:lstStyle/>
                    <a:p>
                      <a:r>
                        <a:rPr lang="de-DE" dirty="0"/>
                        <a:t>Karl Voitenleitner, Jugendliche</a:t>
                      </a:r>
                    </a:p>
                  </a:txBody>
                  <a:tcPr/>
                </a:tc>
                <a:extLst>
                  <a:ext uri="{0D108BD9-81ED-4DB2-BD59-A6C34878D82A}">
                    <a16:rowId xmlns:a16="http://schemas.microsoft.com/office/drawing/2014/main" val="2626558622"/>
                  </a:ext>
                </a:extLst>
              </a:tr>
              <a:tr h="370840">
                <a:tc>
                  <a:txBody>
                    <a:bodyPr/>
                    <a:lstStyle/>
                    <a:p>
                      <a:r>
                        <a:rPr lang="de-DE" dirty="0"/>
                        <a:t>Peter Volkert, Kinder</a:t>
                      </a:r>
                    </a:p>
                  </a:txBody>
                  <a:tcPr/>
                </a:tc>
                <a:extLst>
                  <a:ext uri="{0D108BD9-81ED-4DB2-BD59-A6C34878D82A}">
                    <a16:rowId xmlns:a16="http://schemas.microsoft.com/office/drawing/2014/main" val="3372485822"/>
                  </a:ext>
                </a:extLst>
              </a:tr>
              <a:tr h="370840">
                <a:tc>
                  <a:txBody>
                    <a:bodyPr/>
                    <a:lstStyle/>
                    <a:p>
                      <a:r>
                        <a:rPr lang="de-DE" dirty="0"/>
                        <a:t>Jens Hinrichs, Kinder</a:t>
                      </a:r>
                    </a:p>
                  </a:txBody>
                  <a:tcPr/>
                </a:tc>
                <a:extLst>
                  <a:ext uri="{0D108BD9-81ED-4DB2-BD59-A6C34878D82A}">
                    <a16:rowId xmlns:a16="http://schemas.microsoft.com/office/drawing/2014/main" val="3664550994"/>
                  </a:ext>
                </a:extLst>
              </a:tr>
              <a:tr h="370840">
                <a:tc>
                  <a:txBody>
                    <a:bodyPr/>
                    <a:lstStyle/>
                    <a:p>
                      <a:r>
                        <a:rPr lang="de-DE" dirty="0"/>
                        <a:t>Raisa Hinrichs, Kinder</a:t>
                      </a:r>
                    </a:p>
                  </a:txBody>
                  <a:tcPr/>
                </a:tc>
                <a:extLst>
                  <a:ext uri="{0D108BD9-81ED-4DB2-BD59-A6C34878D82A}">
                    <a16:rowId xmlns:a16="http://schemas.microsoft.com/office/drawing/2014/main" val="782584081"/>
                  </a:ext>
                </a:extLst>
              </a:tr>
            </a:tbl>
          </a:graphicData>
        </a:graphic>
      </p:graphicFrame>
      <p:graphicFrame>
        <p:nvGraphicFramePr>
          <p:cNvPr id="10" name="Tabelle 9">
            <a:extLst>
              <a:ext uri="{FF2B5EF4-FFF2-40B4-BE49-F238E27FC236}">
                <a16:creationId xmlns:a16="http://schemas.microsoft.com/office/drawing/2014/main" id="{D5068152-3DAC-D556-4BBD-5052F00B9E7E}"/>
              </a:ext>
            </a:extLst>
          </p:cNvPr>
          <p:cNvGraphicFramePr>
            <a:graphicFrameLocks noGrp="1"/>
          </p:cNvGraphicFramePr>
          <p:nvPr>
            <p:extLst>
              <p:ext uri="{D42A27DB-BD31-4B8C-83A1-F6EECF244321}">
                <p14:modId xmlns:p14="http://schemas.microsoft.com/office/powerpoint/2010/main" val="3500060522"/>
              </p:ext>
            </p:extLst>
          </p:nvPr>
        </p:nvGraphicFramePr>
        <p:xfrm>
          <a:off x="7176121" y="1068437"/>
          <a:ext cx="4824535" cy="1854200"/>
        </p:xfrm>
        <a:graphic>
          <a:graphicData uri="http://schemas.openxmlformats.org/drawingml/2006/table">
            <a:tbl>
              <a:tblPr firstRow="1" bandRow="1">
                <a:tableStyleId>{5940675A-B579-460E-94D1-54222C63F5DA}</a:tableStyleId>
              </a:tblPr>
              <a:tblGrid>
                <a:gridCol w="4824535">
                  <a:extLst>
                    <a:ext uri="{9D8B030D-6E8A-4147-A177-3AD203B41FA5}">
                      <a16:colId xmlns:a16="http://schemas.microsoft.com/office/drawing/2014/main" val="2930551912"/>
                    </a:ext>
                  </a:extLst>
                </a:gridCol>
              </a:tblGrid>
              <a:tr h="370840">
                <a:tc>
                  <a:txBody>
                    <a:bodyPr/>
                    <a:lstStyle/>
                    <a:p>
                      <a:pPr algn="l"/>
                      <a:r>
                        <a:rPr lang="de-DE" sz="1800" b="1" i="0" u="none" strike="noStrike" dirty="0" err="1">
                          <a:effectLst/>
                        </a:rPr>
                        <a:t>Trainerschaft</a:t>
                      </a:r>
                      <a:r>
                        <a:rPr lang="de-DE" sz="1800" b="1" i="0" u="none" strike="noStrike" dirty="0">
                          <a:effectLst/>
                        </a:rPr>
                        <a:t> Takamura ha Shindo Yoshin Ryu</a:t>
                      </a:r>
                    </a:p>
                  </a:txBody>
                  <a:tcPr/>
                </a:tc>
                <a:extLst>
                  <a:ext uri="{0D108BD9-81ED-4DB2-BD59-A6C34878D82A}">
                    <a16:rowId xmlns:a16="http://schemas.microsoft.com/office/drawing/2014/main" val="1044388170"/>
                  </a:ext>
                </a:extLst>
              </a:tr>
              <a:tr h="370840">
                <a:tc>
                  <a:txBody>
                    <a:bodyPr/>
                    <a:lstStyle/>
                    <a:p>
                      <a:r>
                        <a:rPr lang="de-DE" dirty="0"/>
                        <a:t>Sven Gerstendörfer (Cheftrainer)</a:t>
                      </a:r>
                    </a:p>
                  </a:txBody>
                  <a:tcPr/>
                </a:tc>
                <a:extLst>
                  <a:ext uri="{0D108BD9-81ED-4DB2-BD59-A6C34878D82A}">
                    <a16:rowId xmlns:a16="http://schemas.microsoft.com/office/drawing/2014/main" val="466032820"/>
                  </a:ext>
                </a:extLst>
              </a:tr>
              <a:tr h="370840">
                <a:tc>
                  <a:txBody>
                    <a:bodyPr/>
                    <a:lstStyle/>
                    <a:p>
                      <a:r>
                        <a:rPr lang="de-DE" dirty="0"/>
                        <a:t>Max Gleixner</a:t>
                      </a:r>
                    </a:p>
                  </a:txBody>
                  <a:tcPr/>
                </a:tc>
                <a:extLst>
                  <a:ext uri="{0D108BD9-81ED-4DB2-BD59-A6C34878D82A}">
                    <a16:rowId xmlns:a16="http://schemas.microsoft.com/office/drawing/2014/main" val="1159423433"/>
                  </a:ext>
                </a:extLst>
              </a:tr>
              <a:tr h="370840">
                <a:tc>
                  <a:txBody>
                    <a:bodyPr/>
                    <a:lstStyle/>
                    <a:p>
                      <a:r>
                        <a:rPr lang="de-DE" dirty="0"/>
                        <a:t>Melanie Burian</a:t>
                      </a:r>
                    </a:p>
                  </a:txBody>
                  <a:tcPr/>
                </a:tc>
                <a:extLst>
                  <a:ext uri="{0D108BD9-81ED-4DB2-BD59-A6C34878D82A}">
                    <a16:rowId xmlns:a16="http://schemas.microsoft.com/office/drawing/2014/main" val="860787908"/>
                  </a:ext>
                </a:extLst>
              </a:tr>
              <a:tr h="370840">
                <a:tc>
                  <a:txBody>
                    <a:bodyPr/>
                    <a:lstStyle/>
                    <a:p>
                      <a:r>
                        <a:rPr lang="de-DE" dirty="0"/>
                        <a:t>Max Conradi</a:t>
                      </a:r>
                    </a:p>
                  </a:txBody>
                  <a:tcPr/>
                </a:tc>
                <a:extLst>
                  <a:ext uri="{0D108BD9-81ED-4DB2-BD59-A6C34878D82A}">
                    <a16:rowId xmlns:a16="http://schemas.microsoft.com/office/drawing/2014/main" val="2626558622"/>
                  </a:ext>
                </a:extLst>
              </a:tr>
            </a:tbl>
          </a:graphicData>
        </a:graphic>
      </p:graphicFrame>
      <p:graphicFrame>
        <p:nvGraphicFramePr>
          <p:cNvPr id="2" name="Tabelle 1">
            <a:extLst>
              <a:ext uri="{FF2B5EF4-FFF2-40B4-BE49-F238E27FC236}">
                <a16:creationId xmlns:a16="http://schemas.microsoft.com/office/drawing/2014/main" id="{0D29340F-E1E6-0C97-A9F7-7D4EA6B279C6}"/>
              </a:ext>
            </a:extLst>
          </p:cNvPr>
          <p:cNvGraphicFramePr>
            <a:graphicFrameLocks noGrp="1"/>
          </p:cNvGraphicFramePr>
          <p:nvPr>
            <p:extLst>
              <p:ext uri="{D42A27DB-BD31-4B8C-83A1-F6EECF244321}">
                <p14:modId xmlns:p14="http://schemas.microsoft.com/office/powerpoint/2010/main" val="3218856889"/>
              </p:ext>
            </p:extLst>
          </p:nvPr>
        </p:nvGraphicFramePr>
        <p:xfrm>
          <a:off x="7176120" y="3292192"/>
          <a:ext cx="4824536" cy="2225040"/>
        </p:xfrm>
        <a:graphic>
          <a:graphicData uri="http://schemas.openxmlformats.org/drawingml/2006/table">
            <a:tbl>
              <a:tblPr firstRow="1" bandRow="1">
                <a:tableStyleId>{5940675A-B579-460E-94D1-54222C63F5DA}</a:tableStyleId>
              </a:tblPr>
              <a:tblGrid>
                <a:gridCol w="4824536">
                  <a:extLst>
                    <a:ext uri="{9D8B030D-6E8A-4147-A177-3AD203B41FA5}">
                      <a16:colId xmlns:a16="http://schemas.microsoft.com/office/drawing/2014/main" val="2930551912"/>
                    </a:ext>
                  </a:extLst>
                </a:gridCol>
              </a:tblGrid>
              <a:tr h="370840">
                <a:tc>
                  <a:txBody>
                    <a:bodyPr/>
                    <a:lstStyle/>
                    <a:p>
                      <a:r>
                        <a:rPr lang="de-DE" b="1" dirty="0" err="1"/>
                        <a:t>Trainerschaft</a:t>
                      </a:r>
                      <a:r>
                        <a:rPr lang="de-DE" b="1" dirty="0"/>
                        <a:t> Taiji</a:t>
                      </a:r>
                    </a:p>
                  </a:txBody>
                  <a:tcPr/>
                </a:tc>
                <a:extLst>
                  <a:ext uri="{0D108BD9-81ED-4DB2-BD59-A6C34878D82A}">
                    <a16:rowId xmlns:a16="http://schemas.microsoft.com/office/drawing/2014/main" val="1044388170"/>
                  </a:ext>
                </a:extLst>
              </a:tr>
              <a:tr h="370840">
                <a:tc>
                  <a:txBody>
                    <a:bodyPr/>
                    <a:lstStyle/>
                    <a:p>
                      <a:r>
                        <a:rPr lang="de-DE" dirty="0"/>
                        <a:t>Richard Fläxl (Cheftrainer)</a:t>
                      </a:r>
                    </a:p>
                  </a:txBody>
                  <a:tcPr/>
                </a:tc>
                <a:extLst>
                  <a:ext uri="{0D108BD9-81ED-4DB2-BD59-A6C34878D82A}">
                    <a16:rowId xmlns:a16="http://schemas.microsoft.com/office/drawing/2014/main" val="466032820"/>
                  </a:ext>
                </a:extLst>
              </a:tr>
              <a:tr h="370840">
                <a:tc>
                  <a:txBody>
                    <a:bodyPr/>
                    <a:lstStyle/>
                    <a:p>
                      <a:r>
                        <a:rPr lang="de-DE" dirty="0"/>
                        <a:t>Friedemann Böhme</a:t>
                      </a:r>
                    </a:p>
                  </a:txBody>
                  <a:tcPr/>
                </a:tc>
                <a:extLst>
                  <a:ext uri="{0D108BD9-81ED-4DB2-BD59-A6C34878D82A}">
                    <a16:rowId xmlns:a16="http://schemas.microsoft.com/office/drawing/2014/main" val="1159423433"/>
                  </a:ext>
                </a:extLst>
              </a:tr>
              <a:tr h="370840">
                <a:tc>
                  <a:txBody>
                    <a:bodyPr/>
                    <a:lstStyle/>
                    <a:p>
                      <a:r>
                        <a:rPr lang="de-DE" dirty="0"/>
                        <a:t>Thomas Simianer</a:t>
                      </a:r>
                    </a:p>
                  </a:txBody>
                  <a:tcPr/>
                </a:tc>
                <a:extLst>
                  <a:ext uri="{0D108BD9-81ED-4DB2-BD59-A6C34878D82A}">
                    <a16:rowId xmlns:a16="http://schemas.microsoft.com/office/drawing/2014/main" val="860787908"/>
                  </a:ext>
                </a:extLst>
              </a:tr>
              <a:tr h="370840">
                <a:tc>
                  <a:txBody>
                    <a:bodyPr/>
                    <a:lstStyle/>
                    <a:p>
                      <a:r>
                        <a:rPr lang="de-DE" dirty="0"/>
                        <a:t>Peter Mross</a:t>
                      </a:r>
                    </a:p>
                  </a:txBody>
                  <a:tcPr/>
                </a:tc>
                <a:extLst>
                  <a:ext uri="{0D108BD9-81ED-4DB2-BD59-A6C34878D82A}">
                    <a16:rowId xmlns:a16="http://schemas.microsoft.com/office/drawing/2014/main" val="2626558622"/>
                  </a:ext>
                </a:extLst>
              </a:tr>
              <a:tr h="370840">
                <a:tc>
                  <a:txBody>
                    <a:bodyPr/>
                    <a:lstStyle/>
                    <a:p>
                      <a:r>
                        <a:rPr lang="de-DE" dirty="0"/>
                        <a:t>Tino Schlauderer</a:t>
                      </a:r>
                    </a:p>
                  </a:txBody>
                  <a:tcPr/>
                </a:tc>
                <a:extLst>
                  <a:ext uri="{0D108BD9-81ED-4DB2-BD59-A6C34878D82A}">
                    <a16:rowId xmlns:a16="http://schemas.microsoft.com/office/drawing/2014/main" val="3372485822"/>
                  </a:ext>
                </a:extLst>
              </a:tr>
            </a:tbl>
          </a:graphicData>
        </a:graphic>
      </p:graphicFrame>
      <p:graphicFrame>
        <p:nvGraphicFramePr>
          <p:cNvPr id="5" name="Tabelle 4">
            <a:extLst>
              <a:ext uri="{FF2B5EF4-FFF2-40B4-BE49-F238E27FC236}">
                <a16:creationId xmlns:a16="http://schemas.microsoft.com/office/drawing/2014/main" id="{BC5EBB90-E0CE-D061-E766-67312499DD2C}"/>
              </a:ext>
            </a:extLst>
          </p:cNvPr>
          <p:cNvGraphicFramePr>
            <a:graphicFrameLocks noGrp="1"/>
          </p:cNvGraphicFramePr>
          <p:nvPr>
            <p:extLst>
              <p:ext uri="{D42A27DB-BD31-4B8C-83A1-F6EECF244321}">
                <p14:modId xmlns:p14="http://schemas.microsoft.com/office/powerpoint/2010/main" val="1719388830"/>
              </p:ext>
            </p:extLst>
          </p:nvPr>
        </p:nvGraphicFramePr>
        <p:xfrm>
          <a:off x="2711624" y="4407803"/>
          <a:ext cx="4259609" cy="1112520"/>
        </p:xfrm>
        <a:graphic>
          <a:graphicData uri="http://schemas.openxmlformats.org/drawingml/2006/table">
            <a:tbl>
              <a:tblPr firstRow="1" bandRow="1">
                <a:tableStyleId>{5940675A-B579-460E-94D1-54222C63F5DA}</a:tableStyleId>
              </a:tblPr>
              <a:tblGrid>
                <a:gridCol w="4259609">
                  <a:extLst>
                    <a:ext uri="{9D8B030D-6E8A-4147-A177-3AD203B41FA5}">
                      <a16:colId xmlns:a16="http://schemas.microsoft.com/office/drawing/2014/main" val="2930551912"/>
                    </a:ext>
                  </a:extLst>
                </a:gridCol>
              </a:tblGrid>
              <a:tr h="370840">
                <a:tc>
                  <a:txBody>
                    <a:bodyPr/>
                    <a:lstStyle/>
                    <a:p>
                      <a:r>
                        <a:rPr lang="de-DE" b="1" dirty="0" err="1"/>
                        <a:t>Trainerschaft</a:t>
                      </a:r>
                      <a:r>
                        <a:rPr lang="de-DE" b="1" dirty="0"/>
                        <a:t> Kickboxen</a:t>
                      </a:r>
                    </a:p>
                  </a:txBody>
                  <a:tcPr/>
                </a:tc>
                <a:extLst>
                  <a:ext uri="{0D108BD9-81ED-4DB2-BD59-A6C34878D82A}">
                    <a16:rowId xmlns:a16="http://schemas.microsoft.com/office/drawing/2014/main" val="1044388170"/>
                  </a:ext>
                </a:extLst>
              </a:tr>
              <a:tr h="370840">
                <a:tc>
                  <a:txBody>
                    <a:bodyPr/>
                    <a:lstStyle/>
                    <a:p>
                      <a:r>
                        <a:rPr lang="de-DE" dirty="0"/>
                        <a:t>Christian Holst (Cheftrainer)</a:t>
                      </a:r>
                    </a:p>
                  </a:txBody>
                  <a:tcPr/>
                </a:tc>
                <a:extLst>
                  <a:ext uri="{0D108BD9-81ED-4DB2-BD59-A6C34878D82A}">
                    <a16:rowId xmlns:a16="http://schemas.microsoft.com/office/drawing/2014/main" val="466032820"/>
                  </a:ext>
                </a:extLst>
              </a:tr>
              <a:tr h="370840">
                <a:tc>
                  <a:txBody>
                    <a:bodyPr/>
                    <a:lstStyle/>
                    <a:p>
                      <a:r>
                        <a:rPr lang="de-DE" dirty="0"/>
                        <a:t>Michael Podolinsky</a:t>
                      </a:r>
                    </a:p>
                  </a:txBody>
                  <a:tcPr/>
                </a:tc>
                <a:extLst>
                  <a:ext uri="{0D108BD9-81ED-4DB2-BD59-A6C34878D82A}">
                    <a16:rowId xmlns:a16="http://schemas.microsoft.com/office/drawing/2014/main" val="1159423433"/>
                  </a:ext>
                </a:extLst>
              </a:tr>
            </a:tbl>
          </a:graphicData>
        </a:graphic>
      </p:graphicFrame>
    </p:spTree>
    <p:extLst>
      <p:ext uri="{BB962C8B-B14F-4D97-AF65-F5344CB8AC3E}">
        <p14:creationId xmlns:p14="http://schemas.microsoft.com/office/powerpoint/2010/main" val="565667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900AB-019E-4F10-2859-7CD95DDCD47A}"/>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E4A778F3-C971-AF13-ECFA-DBC31A53EE97}"/>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BCF0A0A2-D632-00A6-21D9-92B012173D3D}"/>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056D8047-FB29-463B-A507-EADB691DC939}"/>
              </a:ext>
            </a:extLst>
          </p:cNvPr>
          <p:cNvSpPr txBox="1"/>
          <p:nvPr/>
        </p:nvSpPr>
        <p:spPr>
          <a:xfrm>
            <a:off x="2834328" y="1009043"/>
            <a:ext cx="7654143" cy="461665"/>
          </a:xfrm>
          <a:prstGeom prst="rect">
            <a:avLst/>
          </a:prstGeom>
          <a:noFill/>
        </p:spPr>
        <p:txBody>
          <a:bodyPr wrap="square" rtlCol="0">
            <a:spAutoFit/>
          </a:bodyPr>
          <a:lstStyle/>
          <a:p>
            <a:pPr algn="l"/>
            <a:r>
              <a:rPr lang="de-DE" sz="2400" b="1" i="0" u="none" strike="noStrike" dirty="0">
                <a:effectLst/>
              </a:rPr>
              <a:t>Kampfkunstlebenslauf Trainerinnen und Trainer</a:t>
            </a:r>
          </a:p>
        </p:txBody>
      </p:sp>
    </p:spTree>
    <p:extLst>
      <p:ext uri="{BB962C8B-B14F-4D97-AF65-F5344CB8AC3E}">
        <p14:creationId xmlns:p14="http://schemas.microsoft.com/office/powerpoint/2010/main" val="3460485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4B26C-C7E4-031A-ED94-F5890F1FACDC}"/>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22BF98EC-80E0-46FE-6990-C9BA3ABF05E8}"/>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AE166D9F-784E-FD33-DC59-B50B10D421DC}"/>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1F3955DC-B11D-859B-5C24-1CACA540FC90}"/>
              </a:ext>
            </a:extLst>
          </p:cNvPr>
          <p:cNvSpPr txBox="1"/>
          <p:nvPr/>
        </p:nvSpPr>
        <p:spPr>
          <a:xfrm>
            <a:off x="2693226" y="843624"/>
            <a:ext cx="4111171" cy="461665"/>
          </a:xfrm>
          <a:prstGeom prst="rect">
            <a:avLst/>
          </a:prstGeom>
          <a:noFill/>
        </p:spPr>
        <p:txBody>
          <a:bodyPr wrap="square" rtlCol="0">
            <a:spAutoFit/>
          </a:bodyPr>
          <a:lstStyle/>
          <a:p>
            <a:r>
              <a:rPr lang="de-DE" sz="2400" b="1" dirty="0"/>
              <a:t>Vereinsgeschichte</a:t>
            </a:r>
          </a:p>
        </p:txBody>
      </p:sp>
      <p:sp>
        <p:nvSpPr>
          <p:cNvPr id="5" name="Textfeld 4">
            <a:extLst>
              <a:ext uri="{FF2B5EF4-FFF2-40B4-BE49-F238E27FC236}">
                <a16:creationId xmlns:a16="http://schemas.microsoft.com/office/drawing/2014/main" id="{B1F505E3-8D93-3AE3-9782-BED47E1A618A}"/>
              </a:ext>
            </a:extLst>
          </p:cNvPr>
          <p:cNvSpPr txBox="1"/>
          <p:nvPr/>
        </p:nvSpPr>
        <p:spPr>
          <a:xfrm>
            <a:off x="2724170" y="1292957"/>
            <a:ext cx="8950307" cy="3970318"/>
          </a:xfrm>
          <a:prstGeom prst="rect">
            <a:avLst/>
          </a:prstGeom>
          <a:noFill/>
        </p:spPr>
        <p:txBody>
          <a:bodyPr wrap="square" rtlCol="0">
            <a:spAutoFit/>
          </a:bodyPr>
          <a:lstStyle/>
          <a:p>
            <a:r>
              <a:rPr lang="de-DE" dirty="0">
                <a:effectLst/>
                <a:latin typeface="Helvetica" pitchFamily="2" charset="0"/>
              </a:rPr>
              <a:t>Im Oktober 1967 trafen sich im Tanzsaal beim Wirt von Sünzhausen </a:t>
            </a:r>
            <a:r>
              <a:rPr lang="de-DE" dirty="0">
                <a:latin typeface="Helvetica" pitchFamily="2" charset="0"/>
              </a:rPr>
              <a:t>10</a:t>
            </a:r>
            <a:r>
              <a:rPr lang="de-DE" dirty="0">
                <a:effectLst/>
                <a:latin typeface="Helvetica" pitchFamily="2" charset="0"/>
              </a:rPr>
              <a:t> </a:t>
            </a:r>
            <a:r>
              <a:rPr lang="de-DE" dirty="0" err="1">
                <a:effectLst/>
                <a:latin typeface="Helvetica" pitchFamily="2" charset="0"/>
              </a:rPr>
              <a:t>Interes</a:t>
            </a:r>
            <a:r>
              <a:rPr lang="de-DE" dirty="0">
                <a:effectLst/>
                <a:latin typeface="Helvetica" pitchFamily="2" charset="0"/>
              </a:rPr>
              <a:t>-senten, die die gemeinsame Leidenschaft für den Kampfsport verband. Bereits kurze Zeit später, am 2. Januar 1968, gründeten diese „Pioniere“ das Karate-Dojo Freising in der Form eines eingetragenen Vereins. Treibende Kräfte waren dabei über die Grenzen von Freising hinaus auch heute noch bekannte Namen wie Karl Sirch, Josef Rattenhuber und Franz </a:t>
            </a:r>
            <a:r>
              <a:rPr lang="de-DE" dirty="0" err="1">
                <a:effectLst/>
                <a:latin typeface="Helvetica" pitchFamily="2" charset="0"/>
              </a:rPr>
              <a:t>Kiening</a:t>
            </a:r>
            <a:r>
              <a:rPr lang="de-DE" dirty="0">
                <a:effectLst/>
                <a:latin typeface="Helvetica" pitchFamily="2" charset="0"/>
              </a:rPr>
              <a:t>.</a:t>
            </a:r>
            <a:br>
              <a:rPr lang="de-DE" dirty="0">
                <a:effectLst/>
                <a:latin typeface="Helvetica" pitchFamily="2" charset="0"/>
              </a:rPr>
            </a:br>
            <a:br>
              <a:rPr lang="de-DE" dirty="0">
                <a:effectLst/>
                <a:latin typeface="Helvetica" pitchFamily="2" charset="0"/>
              </a:rPr>
            </a:br>
            <a:r>
              <a:rPr lang="de-DE" dirty="0">
                <a:effectLst/>
                <a:latin typeface="Helvetica" pitchFamily="2" charset="0"/>
              </a:rPr>
              <a:t>Die ersten sportlichen Erfolge bei Landes- und Bundesmeisterschaften ließen dann auch nicht lange auf sich warten. Neben zahlreichen Platzierungen auf den vordersten Rängen bei Mannschafts- und Einzelwettbewerben auf bayerischer Ebene waren die herausragenden Ergebnisse der Anfangszeit der Bayerische Mannschaftsmeistertitel 1973, der deutsche Jugendmeistertitel 1974 von Edgar Heinrich und der internationale Deutsche Meistertitel 1976 von Helmut Stoppe. Weitere erfolgreiche Kämpfer waren die Brüder Helmut und Franz </a:t>
            </a:r>
            <a:r>
              <a:rPr lang="de-DE" dirty="0" err="1">
                <a:effectLst/>
                <a:latin typeface="Helvetica" pitchFamily="2" charset="0"/>
              </a:rPr>
              <a:t>Brunngartner</a:t>
            </a:r>
            <a:r>
              <a:rPr lang="de-DE" dirty="0">
                <a:effectLst/>
                <a:latin typeface="Helvetica" pitchFamily="2" charset="0"/>
              </a:rPr>
              <a:t> sowie Josef Marzahn.</a:t>
            </a:r>
          </a:p>
        </p:txBody>
      </p:sp>
    </p:spTree>
    <p:extLst>
      <p:ext uri="{BB962C8B-B14F-4D97-AF65-F5344CB8AC3E}">
        <p14:creationId xmlns:p14="http://schemas.microsoft.com/office/powerpoint/2010/main" val="3308198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CD1EA-1AA9-54CD-2E1A-2FBB283EBD38}"/>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7B5542D8-1136-66CF-987A-15E96EB1AF69}"/>
              </a:ext>
            </a:extLst>
          </p:cNvPr>
          <p:cNvSpPr txBox="1"/>
          <p:nvPr/>
        </p:nvSpPr>
        <p:spPr>
          <a:xfrm>
            <a:off x="2978338" y="193624"/>
            <a:ext cx="8321529" cy="769441"/>
          </a:xfrm>
          <a:prstGeom prst="rect">
            <a:avLst/>
          </a:prstGeom>
          <a:noFill/>
        </p:spPr>
        <p:txBody>
          <a:bodyPr wrap="square" rtlCol="0">
            <a:spAutoFit/>
          </a:bodyPr>
          <a:lstStyle/>
          <a:p>
            <a:pPr algn="ctr"/>
            <a:r>
              <a:rPr lang="de-DE" sz="4400" b="1" dirty="0"/>
              <a:t>Karate-</a:t>
            </a:r>
            <a:r>
              <a:rPr lang="de-DE" sz="4400" b="1" dirty="0" err="1"/>
              <a:t>Dōjō</a:t>
            </a:r>
            <a:r>
              <a:rPr lang="de-DE" sz="4400" b="1" dirty="0"/>
              <a:t> Freising e.V. seit 1968</a:t>
            </a:r>
          </a:p>
        </p:txBody>
      </p:sp>
      <p:cxnSp>
        <p:nvCxnSpPr>
          <p:cNvPr id="3" name="Gerade Verbindung 2">
            <a:extLst>
              <a:ext uri="{FF2B5EF4-FFF2-40B4-BE49-F238E27FC236}">
                <a16:creationId xmlns:a16="http://schemas.microsoft.com/office/drawing/2014/main" id="{196F4219-6580-3C00-D869-59A5195D72B0}"/>
              </a:ext>
            </a:extLst>
          </p:cNvPr>
          <p:cNvCxnSpPr>
            <a:cxnSpLocks/>
          </p:cNvCxnSpPr>
          <p:nvPr/>
        </p:nvCxnSpPr>
        <p:spPr>
          <a:xfrm>
            <a:off x="2563091" y="982902"/>
            <a:ext cx="0" cy="56395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7C7A42E7-5E59-E47A-5982-6DDE63472A22}"/>
              </a:ext>
            </a:extLst>
          </p:cNvPr>
          <p:cNvSpPr txBox="1"/>
          <p:nvPr/>
        </p:nvSpPr>
        <p:spPr>
          <a:xfrm>
            <a:off x="2724170" y="1292957"/>
            <a:ext cx="8950307" cy="3139321"/>
          </a:xfrm>
          <a:prstGeom prst="rect">
            <a:avLst/>
          </a:prstGeom>
          <a:noFill/>
        </p:spPr>
        <p:txBody>
          <a:bodyPr wrap="square" rtlCol="0">
            <a:spAutoFit/>
          </a:bodyPr>
          <a:lstStyle/>
          <a:p>
            <a:r>
              <a:rPr lang="de-DE" dirty="0">
                <a:effectLst/>
                <a:latin typeface="Helvetica" pitchFamily="2" charset="0"/>
              </a:rPr>
              <a:t>Zu verdanken war dies vor allem dem sehr engagierten Trainer und damaligen</a:t>
            </a:r>
            <a:br>
              <a:rPr lang="de-DE" dirty="0">
                <a:effectLst/>
                <a:latin typeface="Helvetica" pitchFamily="2" charset="0"/>
              </a:rPr>
            </a:br>
            <a:r>
              <a:rPr lang="de-DE" dirty="0">
                <a:effectLst/>
                <a:latin typeface="Helvetica" pitchFamily="2" charset="0"/>
              </a:rPr>
              <a:t>1.Vorstand Josef Rattenhuber, der im Jahr 1975 leider viel zu früh verstorben ist.</a:t>
            </a:r>
            <a:br>
              <a:rPr lang="de-DE" dirty="0">
                <a:effectLst/>
                <a:latin typeface="Helvetica" pitchFamily="2" charset="0"/>
              </a:rPr>
            </a:br>
            <a:br>
              <a:rPr lang="de-DE" dirty="0">
                <a:effectLst/>
                <a:latin typeface="Helvetica" pitchFamily="2" charset="0"/>
              </a:rPr>
            </a:br>
            <a:r>
              <a:rPr lang="de-DE" dirty="0">
                <a:effectLst/>
                <a:latin typeface="Helvetica" pitchFamily="2" charset="0"/>
              </a:rPr>
              <a:t>Aus dem Verein in Freising entstanden die Karateabteilung von Erding durch Gerd </a:t>
            </a:r>
            <a:r>
              <a:rPr lang="de-DE" dirty="0" err="1">
                <a:effectLst/>
                <a:latin typeface="Helvetica" pitchFamily="2" charset="0"/>
              </a:rPr>
              <a:t>Rombowski</a:t>
            </a:r>
            <a:r>
              <a:rPr lang="de-DE" dirty="0">
                <a:effectLst/>
                <a:latin typeface="Helvetica" pitchFamily="2" charset="0"/>
              </a:rPr>
              <a:t>, die von Neufahrn durch Franz </a:t>
            </a:r>
            <a:r>
              <a:rPr lang="de-DE" dirty="0" err="1">
                <a:effectLst/>
                <a:latin typeface="Helvetica" pitchFamily="2" charset="0"/>
              </a:rPr>
              <a:t>Kiening</a:t>
            </a:r>
            <a:r>
              <a:rPr lang="de-DE" dirty="0">
                <a:effectLst/>
                <a:latin typeface="Helvetica" pitchFamily="2" charset="0"/>
              </a:rPr>
              <a:t> und von Moosburg durch Franz Ippisch. Aus diesen Wurzeln gingen auch die Dojos in Gaden, Dorfen und Eching hervor.</a:t>
            </a:r>
            <a:br>
              <a:rPr lang="de-DE" dirty="0">
                <a:latin typeface="Helvetica" pitchFamily="2" charset="0"/>
              </a:rPr>
            </a:br>
            <a:br>
              <a:rPr lang="de-DE" dirty="0">
                <a:latin typeface="Helvetica" pitchFamily="2" charset="0"/>
              </a:rPr>
            </a:br>
            <a:r>
              <a:rPr lang="de-DE" dirty="0">
                <a:effectLst/>
                <a:latin typeface="Helvetica" pitchFamily="2" charset="0"/>
              </a:rPr>
              <a:t>Das Karate-Dojo Freising hat sich so über die Jahrzehnte auch mit den Sparten Kickboxen, Taiji und TSYR, zu einem bedeutenden Faktor im Breitensport der Stadt Freising entwickelt.</a:t>
            </a:r>
          </a:p>
        </p:txBody>
      </p:sp>
      <p:sp>
        <p:nvSpPr>
          <p:cNvPr id="2" name="Textfeld 1">
            <a:extLst>
              <a:ext uri="{FF2B5EF4-FFF2-40B4-BE49-F238E27FC236}">
                <a16:creationId xmlns:a16="http://schemas.microsoft.com/office/drawing/2014/main" id="{27E3E093-B2C7-C8A7-CDCF-C92FA10530B5}"/>
              </a:ext>
            </a:extLst>
          </p:cNvPr>
          <p:cNvSpPr txBox="1"/>
          <p:nvPr/>
        </p:nvSpPr>
        <p:spPr>
          <a:xfrm>
            <a:off x="2693226" y="843624"/>
            <a:ext cx="4111171" cy="461665"/>
          </a:xfrm>
          <a:prstGeom prst="rect">
            <a:avLst/>
          </a:prstGeom>
          <a:noFill/>
        </p:spPr>
        <p:txBody>
          <a:bodyPr wrap="square" rtlCol="0">
            <a:spAutoFit/>
          </a:bodyPr>
          <a:lstStyle/>
          <a:p>
            <a:r>
              <a:rPr lang="de-DE" sz="2400" b="1" dirty="0"/>
              <a:t>Vereinsgeschichte</a:t>
            </a:r>
          </a:p>
        </p:txBody>
      </p:sp>
    </p:spTree>
    <p:extLst>
      <p:ext uri="{BB962C8B-B14F-4D97-AF65-F5344CB8AC3E}">
        <p14:creationId xmlns:p14="http://schemas.microsoft.com/office/powerpoint/2010/main" val="281253578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defRPr sz="24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2355</Words>
  <Application>Microsoft Macintosh PowerPoint</Application>
  <PresentationFormat>Breitbild</PresentationFormat>
  <Paragraphs>165</Paragraphs>
  <Slides>18</Slides>
  <Notes>18</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18</vt:i4>
      </vt:variant>
    </vt:vector>
  </HeadingPairs>
  <TitlesOfParts>
    <vt:vector size="24" baseType="lpstr">
      <vt:lpstr>Arial</vt:lpstr>
      <vt:lpstr>Calibri</vt:lpstr>
      <vt:lpstr>Calibri Light</vt:lpstr>
      <vt:lpstr>Helvetica</vt:lpstr>
      <vt:lpstr>Times New Roman</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Volkert</dc:creator>
  <cp:lastModifiedBy>Peter Volkert</cp:lastModifiedBy>
  <cp:revision>136</cp:revision>
  <dcterms:created xsi:type="dcterms:W3CDTF">2024-12-21T19:21:42Z</dcterms:created>
  <dcterms:modified xsi:type="dcterms:W3CDTF">2026-05-07T16:34:12Z</dcterms:modified>
</cp:coreProperties>
</file>